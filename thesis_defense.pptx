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0B8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0-300m</c:v>
                  </c:pt>
                  <c:pt idx="1">
                    <c:v>0-500m</c:v>
                  </c:pt>
                  <c:pt idx="2">
                    <c:v>0-750m</c:v>
                  </c:pt>
                  <c:pt idx="3">
                    <c:v>0-900m</c:v>
                  </c:pt>
                  <c:pt idx="4">
                    <c:v>0-1000m</c:v>
                  </c:pt>
                  <c:pt idx="5">
                    <c:v>0-1250m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0.007</c:v>
                </c:pt>
                <c:pt idx="1">
                  <c:v>0.664</c:v>
                </c:pt>
                <c:pt idx="2">
                  <c:v>0.835</c:v>
                </c:pt>
                <c:pt idx="3">
                  <c:v>0.797</c:v>
                </c:pt>
                <c:pt idx="4">
                  <c:v>0.813</c:v>
                </c:pt>
                <c:pt idx="5">
                  <c:v>0.741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at 0-750m</c:v>
                </c:pt>
              </c:strCache>
            </c:strRef>
          </c:tx>
          <c:spPr>
            <a:solidFill>
              <a:srgbClr val="4A6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0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CB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CB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8FA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Buildings
Only</c:v>
                  </c:pt>
                  <c:pt idx="1">
                    <c:v>+Vegetation</c:v>
                  </c:pt>
                  <c:pt idx="2">
                    <c:v>+Roads+
Water (cal)</c:v>
                  </c:pt>
                  <c:pt idx="3">
                    <c:v>Full Scene
2M samples</c:v>
                  </c:pt>
                  <c:pt idx="4">
                    <c:v>Full Scene
100M samples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0.716</c:v>
                </c:pt>
                <c:pt idx="1">
                  <c:v>0.692</c:v>
                </c:pt>
                <c:pt idx="2">
                  <c:v>0.696</c:v>
                </c:pt>
                <c:pt idx="3">
                  <c:v>0.742</c:v>
                </c:pt>
                <c:pt idx="4">
                  <c:v>0.835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12700" cap="flat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548640"/>
            <a:ext cx="4754880" cy="4754880"/>
          </a:xfrm>
          <a:prstGeom prst="ellipse">
            <a:avLst/>
          </a:prstGeom>
          <a:solidFill>
            <a:srgbClr val="0B8FAC">
              <a:alpha val="12000"/>
            </a:srgbClr>
          </a:solidFill>
          <a:ln w="12700">
            <a:solidFill>
              <a:srgbClr val="0B8FA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108960"/>
            <a:ext cx="2926080" cy="2926080"/>
          </a:xfrm>
          <a:prstGeom prst="ellipse">
            <a:avLst/>
          </a:prstGeom>
          <a:solidFill>
            <a:srgbClr val="5ECBE0">
              <a:alpha val="10000"/>
            </a:srgbClr>
          </a:solidFill>
          <a:ln w="12700">
            <a:solidFill>
              <a:srgbClr val="5ECBE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804672"/>
            <a:ext cx="210312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80467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THESIS DEFENSE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 Tracing-Based Urban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Modelling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RT 2.0  |  Ofcom 2018 Nottingham  |  915 MHz and 1802 MHz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  |  [University]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Scene Building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633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Modelling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30098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300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Configuration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1298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Methodology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96596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93792" y="1965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915 MHz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263347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93792" y="2633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1802 MHz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330098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3300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Ray Tracing for Propagation Prediction?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8099B0"/>
          </a:solidFill>
          <a:ln w="12700">
            <a:solidFill>
              <a:srgbClr val="8099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2606040" cy="201168"/>
          </a:xfrm>
          <a:prstGeom prst="rect">
            <a:avLst/>
          </a:prstGeom>
          <a:solidFill>
            <a:srgbClr val="8099B0"/>
          </a:solidFill>
          <a:ln w="12700">
            <a:solidFill>
              <a:srgbClr val="8099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34440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Models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92938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837944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location-generic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" y="25420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45059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resolution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315468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06324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to scene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" y="376732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675888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training environments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18688" y="12344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23444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508760"/>
            <a:ext cx="2606040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234440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 Tracing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192938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1837944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prediction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25420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245059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geometry-awareness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15468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306324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Calibratable to measurements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376732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3675888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Multi-path / diffraction support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123444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23444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508760"/>
            <a:ext cx="2606040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1234440"/>
            <a:ext cx="2386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Sionna RT 2.0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99632" y="192938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1837944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(DrJIT)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9632" y="25420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2450592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renderer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99632" y="315468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306324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(NVIDIA)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9632" y="376732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3675888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+ scattering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840480" cy="1572768"/>
          </a:xfrm>
          <a:prstGeom prst="roundRect">
            <a:avLst>
              <a:gd name="adj" fmla="val 465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39903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99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362456"/>
            <a:ext cx="3154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high-fidelity 3D urban scene from open geodata (OSM, EA LiDAR, OS OpenData)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3840480" cy="1572768"/>
          </a:xfrm>
          <a:prstGeom prst="roundRect">
            <a:avLst>
              <a:gd name="adj" fmla="val 465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139903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99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362456"/>
            <a:ext cx="3154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ITU-R P.2040-2 material parameters against 915 MHz field measurements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3840480" cy="1572768"/>
          </a:xfrm>
          <a:prstGeom prst="roundRect">
            <a:avLst>
              <a:gd name="adj" fmla="val 465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" y="309067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054096"/>
            <a:ext cx="3154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RT performance across distance ranges and scene feature sets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3840480" cy="1572768"/>
          </a:xfrm>
          <a:prstGeom prst="roundRect">
            <a:avLst>
              <a:gd name="adj" fmla="val 465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3090672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3054096"/>
            <a:ext cx="31546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vegetation modelling strategies: disc geometry, Weissberger, nDSM sources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Ofcom 2018 Nottingham Measurement Campaign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Measurement Locations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915 MHz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224028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1802 MHz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at western high ground, 79.2 m ASL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Nottingham, UK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CRS: EPSG:27700 (British National Grid)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 path loss measurements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170432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Coverage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-1.268 deg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75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075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-1.120 deg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52.943 deg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898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53.003 deg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310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33101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km x 7 km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721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elev.: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50.55 m ASL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1330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height: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4133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 m ASL (+17 m AGL)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E8EDF5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73352"/>
            <a:ext cx="138988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47672"/>
            <a:ext cx="12070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OSM, EA LiDAR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DTM/DSM,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OpenData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56232" y="2464308"/>
            <a:ext cx="228600" cy="237744"/>
          </a:xfrm>
          <a:prstGeom prst="rightArrow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9696" y="1417320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E8EDF5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141732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1673352"/>
            <a:ext cx="138988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12848" y="1417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31136" y="1947672"/>
            <a:ext cx="12070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 mesh 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assembly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84448" y="2464308"/>
            <a:ext cx="228600" cy="237744"/>
          </a:xfrm>
          <a:prstGeom prst="rightArrow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1417320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E8EDF5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141732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7912" y="1673352"/>
            <a:ext cx="138988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1064" y="1417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Sionna 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59352" y="1947672"/>
            <a:ext cx="12070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PathSolver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ITU-R materials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12664" y="2464308"/>
            <a:ext cx="228600" cy="237744"/>
          </a:xfrm>
          <a:prstGeom prst="rightArrow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1417320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E8EDF5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96128" y="141732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96128" y="1673352"/>
            <a:ext cx="138988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417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87568" y="1947672"/>
            <a:ext cx="12070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optimiser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material params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DoF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2464308"/>
            <a:ext cx="228600" cy="237744"/>
          </a:xfrm>
          <a:prstGeom prst="rightArrow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24344" y="1417320"/>
            <a:ext cx="1389888" cy="2331720"/>
          </a:xfrm>
          <a:prstGeom prst="roundRect">
            <a:avLst>
              <a:gd name="adj" fmla="val 5263"/>
            </a:avLst>
          </a:prstGeom>
          <a:solidFill>
            <a:srgbClr val="E8EDF5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344" y="1417320"/>
            <a:ext cx="1389888" cy="457200"/>
          </a:xfrm>
          <a:prstGeom prst="roundRect">
            <a:avLst>
              <a:gd name="adj" fmla="val 16000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4344" y="1673352"/>
            <a:ext cx="138988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97496" y="141732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15784" y="1947672"/>
            <a:ext cx="12070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Bias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measurements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208-767 RX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Building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BUILDER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176479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OpenData / OSM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footprints, road polygons, land use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47802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LiDAR DTM/DSM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resolution terrain + surface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19125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906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nDSM = DSM - DTM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height extraction (&gt;=2m threshold)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CRS: EPSG:27700 (British National Grid), always_xy=True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PLY Files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17720" y="1609344"/>
            <a:ext cx="4114800" cy="45720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627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terrain.ply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6276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road_itu_asphalt.ply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06654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0848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bld_itu_brick.ply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20848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water_itu_water.ply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523744"/>
            <a:ext cx="4114800" cy="45720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5420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bld_itu_concrete.ply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25420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veg_itu_vegetation.ply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98094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992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bld_itu_glass.ply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29992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trees_itu_vegetation.ply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438144"/>
            <a:ext cx="4114800" cy="45720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4564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bld_itu_metal.ply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34564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ndms_veg_extra.ply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89534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13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bld_itu_wood.ply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29400" y="39136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terrain_veg.ply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Feature 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FEATURES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8321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9184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 (DTM)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itu_wet/dry_ground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1000x1000 grid, 10m spacing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itu_brick/concrete/glass/metal/wood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Per-material PLY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itu_asphalt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widths, OS Open Roads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(River Trent)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itu_water (er=80)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polygon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OSM/VOM Vegetation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itu_vegetation (er=17)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20m disc spacing, 500 max/polygon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nDSM Extra Vegetation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itu_vegetation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verges, M1 motorway belt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 &amp; Railways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itu_concrete / itu_metal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09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man_made + highway bridges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Vegetation Modelling Strategies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624328" cy="3520440"/>
          </a:xfrm>
          <a:prstGeom prst="roundRect">
            <a:avLst>
              <a:gd name="adj" fmla="val 278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2624328" cy="438912"/>
          </a:xfrm>
          <a:prstGeom prst="roundRect">
            <a:avLst>
              <a:gd name="adj" fmla="val 1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262432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 Geometry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755648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horizontal discs at canopy height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322576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grid spacing within polygons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98094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889504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scatters rays off disc surface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54787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456432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Near-horiz. paths: near-zero cross-section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02336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500 discs per polygon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9544" y="1207008"/>
            <a:ext cx="2624328" cy="3520440"/>
          </a:xfrm>
          <a:prstGeom prst="roundRect">
            <a:avLst>
              <a:gd name="adj" fmla="val 278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9544" y="1207008"/>
            <a:ext cx="2624328" cy="438912"/>
          </a:xfrm>
          <a:prstGeom prst="roundRect">
            <a:avLst>
              <a:gd name="adj" fmla="val 1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9544" y="1444752"/>
            <a:ext cx="262432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20700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Vegetation Sources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184708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755648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polygons: parks, forests, scrub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64992" y="241401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322576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polygons: LiDAR canopy (EA)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4992" y="298094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2889504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nDSM extra: verges, M1 motorway belt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354787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3456432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Two-material terrain in veg zones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64992" y="41148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402336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S=0 on terrain_veg (no scatter flood)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16752" y="1207008"/>
            <a:ext cx="2624328" cy="3520440"/>
          </a:xfrm>
          <a:prstGeom prst="roundRect">
            <a:avLst>
              <a:gd name="adj" fmla="val 278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1207008"/>
            <a:ext cx="2624328" cy="438912"/>
          </a:xfrm>
          <a:prstGeom prst="roundRect">
            <a:avLst>
              <a:gd name="adj" fmla="val 1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16752" y="1444752"/>
            <a:ext cx="262432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120700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ITU-R P.833 Post-Correction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184708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755648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Weissberger formula applied post-RT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241401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2322576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min(20, 0.187 x f^0.284 x d^0.588)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298094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2889504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in GHz, d = veg depth in metres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354787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3456432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STRtree spatial index (O(n log n))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41148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4023360"/>
            <a:ext cx="2203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bulk attenuation efficiently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 Tracing Configuration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4754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NUM_SAMPLES_PS (cal)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NUM_SAMPLES_PS (eval)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Diffraction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(ON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CAL_MIN_DIST_KM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CAL_MAX_DIST_KM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TERRAIN_GRID_N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8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1000x1000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170432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0680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 = 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40680" y="14630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&gt;8 adds spatial noise, R2 drops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192024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40680" y="19385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 eval samples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40680" y="22128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90M/200M give identical R2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2670048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26883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Calibration: 2M samples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40680" y="296265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Powell iteration (~28s/eval)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03520" y="3419856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34381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CAL_MIN_DIST = 0.15 km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40680" y="37124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8 near-mast shadow receivers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0" y="4169664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40680" y="4187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 receivers: 208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40680" y="44622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0.15-1.50 km range (915 MHz campaign)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Calibration via Powell Optimisation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 Offset (Phase 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samples, ~28s - aligns mean PL level before material tuning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075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Probe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3591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materials produce non-zero path response (3-probe check)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16936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Coord-Descent Warm-up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200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One-at-a-time parameter sweep to find good starting point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758184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758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Powell Optimisation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40416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scipy.optimize.minimize: fits er, sigma, S per material (30 DoF, 208 RX)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5902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parameters: 10 materials x 3 (er, sigma, S) = 30 DoF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170432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915 MHz Calibration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receivers: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9340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(0.15-1.50 km)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RMSE floor: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93408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~8-9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24140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RMSE (100M):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93408" y="24140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dB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27980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R2 @ 750m: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93408" y="27980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factor: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9340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(Powell)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3611880"/>
            <a:ext cx="3822192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1802 MHz (in progress)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73168" y="40050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cal RMSE: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22008" y="4005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16.59 dB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43251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scalar (-8.8 dB):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2008" y="4325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14.05 dB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46451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target: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4645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~12-13 dB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B8FAC">
              <a:alpha val="10000"/>
            </a:srgbClr>
          </a:solidFill>
          <a:ln w="12700">
            <a:solidFill>
              <a:srgbClr val="0B8FA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560320"/>
            <a:ext cx="3200400" cy="3200400"/>
          </a:xfrm>
          <a:prstGeom prst="ellipse">
            <a:avLst/>
          </a:prstGeom>
          <a:solidFill>
            <a:srgbClr val="5ECBE0">
              <a:alpha val="10000"/>
            </a:srgbClr>
          </a:solidFill>
          <a:ln w="12700">
            <a:solidFill>
              <a:srgbClr val="5ECBE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261872"/>
            <a:ext cx="109728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2618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915 MHz Simulation Results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578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scene  |  MAX_DEPTH = 8  |  100M eval samples  |  Powell-calibrated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915 MHz Results: Full Scene (ON incoh, 100M samples)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4663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1005840"/>
                <a:gridCol w="1097280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0-300m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0-500m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0-750m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0-900m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0-1250m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2245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Near-range R2~0 (0-300m): 8 mast-shadow LOS receivers — structural, not a calibration issue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892040" y="1078992"/>
          <a:ext cx="38404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4892040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by Distance Range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of Scene Features on R2 (0-750 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EVOLUTION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078992"/>
          <a:ext cx="6858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143000"/>
            <a:ext cx="1600200" cy="3657600"/>
          </a:xfrm>
          <a:prstGeom prst="roundRect">
            <a:avLst>
              <a:gd name="adj" fmla="val 457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05472" y="1234440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05472" y="1783080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= 0.835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05472" y="2176272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+0.119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05472" y="2743200"/>
            <a:ext cx="1453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A6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 dB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05472" y="329184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eval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0B8FAC">
              <a:alpha val="10000"/>
            </a:srgbClr>
          </a:solidFill>
          <a:ln w="12700">
            <a:solidFill>
              <a:srgbClr val="0B8FA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3657600" cy="3657600"/>
          </a:xfrm>
          <a:prstGeom prst="ellipse">
            <a:avLst/>
          </a:prstGeom>
          <a:solidFill>
            <a:srgbClr val="5ECBE0">
              <a:alpha val="10000"/>
            </a:srgbClr>
          </a:solidFill>
          <a:ln w="12700">
            <a:solidFill>
              <a:srgbClr val="5ECBE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 Achieved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= 0.835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= 6.0 dB  |  Bias = +0.8 dB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0-750 m range  |  N = 537 receivers  |  MAX_DEPTH = 8  |  100M evaluation samples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127248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1E3560"/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455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0-500m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R2=0.664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34640" y="3127248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1E3560"/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1455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0-750m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R2=0.835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127248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1E3560"/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1455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0-1000m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R2=0.813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127248"/>
            <a:ext cx="1463040" cy="621792"/>
          </a:xfrm>
          <a:prstGeom prst="roundRect">
            <a:avLst>
              <a:gd name="adj" fmla="val 8824"/>
            </a:avLst>
          </a:prstGeom>
          <a:solidFill>
            <a:srgbClr val="1E3560"/>
          </a:solidFill>
          <a:ln w="12700">
            <a:solidFill>
              <a:srgbClr val="0B8FA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1455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0-1250m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R2=0.741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Vegetation Disc Geometry: Hypothesis 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73736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07008"/>
            <a:ext cx="7973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flat horizontal discs present near-zero cross-section to near-horizontal urban propagation rays, reducing effectiveness.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4005072" cy="2670048"/>
          </a:xfrm>
          <a:prstGeom prst="roundRect">
            <a:avLst>
              <a:gd name="adj" fmla="val 2740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93392"/>
            <a:ext cx="4005072" cy="402336"/>
          </a:xfrm>
          <a:prstGeom prst="roundRect">
            <a:avLst>
              <a:gd name="adj" fmla="val 1818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194560"/>
            <a:ext cx="4005072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9339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" y="257860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4871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DISABLE_VEG_DISCS = 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310896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30175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itu_ceiling_board set transparent (er=1, sigma=0, S=0)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" y="363931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5478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 (discs) vs OFF (no discs)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" y="416966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0782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calibration, same scene geometry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993392"/>
            <a:ext cx="4005072" cy="2670048"/>
          </a:xfrm>
          <a:prstGeom prst="roundRect">
            <a:avLst>
              <a:gd name="adj" fmla="val 2740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993392"/>
            <a:ext cx="4005072" cy="402336"/>
          </a:xfrm>
          <a:prstGeom prst="roundRect">
            <a:avLst>
              <a:gd name="adj" fmla="val 181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194560"/>
            <a:ext cx="4005072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99339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Discs Are Active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28032" y="257860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4871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avg_rays = 17,313 per receiver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28032" y="310896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30175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avg_rays = 60 per receiver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28032" y="363931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35478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289x ratio confirms disc scattering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28032" y="416966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40782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with discs &gt;= R2 without discs across all ranges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8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discs contribute via scattering (not blocking). Disc geometry + Weissberger post-correction architecture confirmed correct.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to 1802 MHz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1802 MHz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Adaptations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" y="171907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itu_asphalt -&gt; itu_very_dry_ground (Sionna registry)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6771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7627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itu_vegetation -&gt; itu_ceiling_board (1802 MHz proxy)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81635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2491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VEG_SCATTERING_COEFF = 0.50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36499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7355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geometry identical: same 23 PLY files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9136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2219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scene layers re-used without modification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11887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Results (uncalibrated)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572768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118872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0-750m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0-1250m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0-2500m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6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617720" y="3383280"/>
            <a:ext cx="4114800" cy="1389888"/>
          </a:xfrm>
          <a:prstGeom prst="roundRect">
            <a:avLst>
              <a:gd name="adj" fmla="val 5263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447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Calibration In Progress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54880" y="3785616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of -5 to -9 dB = scalar offset dominated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 convergence expected: ~12-13 dB RMSE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915 MHz comparison planned post-calibration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858768" cy="1627632"/>
          </a:xfrm>
          <a:prstGeom prst="roundRect">
            <a:avLst>
              <a:gd name="adj" fmla="val 4494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4416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167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 Matches Measurements Well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3584448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80136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= 0.835 at 0-750m. Comparable to best empirical models at 915 MHz in urban environments.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3858768" cy="1627632"/>
          </a:xfrm>
          <a:prstGeom prst="roundRect">
            <a:avLst>
              <a:gd name="adj" fmla="val 4494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4416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3167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Fidelity Matters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737360"/>
            <a:ext cx="3584448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80136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rises from 0.716 (buildings only) to 0.835 (full scene + 100M samples). +0.119 R2 gain.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3858768" cy="1627632"/>
          </a:xfrm>
          <a:prstGeom prst="roundRect">
            <a:avLst>
              <a:gd name="adj" fmla="val 4494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8152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05409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Vegetation Architecture Confirmed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584448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53872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geometry + Weissberger post-correction is effective. Discs contribute via scattering, not blocking.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944368"/>
            <a:ext cx="3858768" cy="1627632"/>
          </a:xfrm>
          <a:prstGeom prst="roundRect">
            <a:avLst>
              <a:gd name="adj" fmla="val 4494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081528"/>
            <a:ext cx="274320" cy="274320"/>
          </a:xfrm>
          <a:prstGeom prst="roundRect">
            <a:avLst>
              <a:gd name="adj" fmla="val 2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305409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Density Is Critical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3474720"/>
            <a:ext cx="3584448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538728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vs 100M eval samples: ~0.09-0.10 R2 difference. 100M is optimal; beyond yields no gain.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1673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88720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3D scene from open geodata (OSM, EA LiDAR, OS OpenData) achieves R2=0.835 at 0-750m, 915 MHz.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19656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Powell-calibrated ITU-R P.2040-2 materials reduce uncalibrated RMSE from ~16 dB to 6.0 dB at 0-750m.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50592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scene (terrain + buildings + vegetation + infrastructure) outperforms buildings-only baseline by +0.12 R2.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81528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disc geometry contributes positively via scattering; Weissberger ITU-R P.833 handles bulk attenuation.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12464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evaluation samples provide optimal accuracy; beyond 100M yields no systematic R2 gain.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7141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43400"/>
            <a:ext cx="8074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1802 MHz extension underway; calibration convergence of ~12-13 dB RMSE expected from Powell optimiser.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37160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624328" cy="3474720"/>
          </a:xfrm>
          <a:prstGeom prst="roundRect">
            <a:avLst>
              <a:gd name="adj" fmla="val 278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2624328" cy="438912"/>
          </a:xfrm>
          <a:prstGeom prst="roundRect">
            <a:avLst>
              <a:gd name="adj" fmla="val 16667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2624328" cy="201168"/>
          </a:xfrm>
          <a:prstGeom prst="rect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Scene Improvement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8562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556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road polygons (true widths)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146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140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TERRAIN_GRID_N &gt; 1000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7296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7238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building height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83133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30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Higher-res LiDAR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18688" y="1207008"/>
            <a:ext cx="2624328" cy="3474720"/>
          </a:xfrm>
          <a:prstGeom prst="roundRect">
            <a:avLst>
              <a:gd name="adj" fmla="val 278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207008"/>
            <a:ext cx="2624328" cy="438912"/>
          </a:xfrm>
          <a:prstGeom prst="roundRect">
            <a:avLst>
              <a:gd name="adj" fmla="val 16667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444752"/>
            <a:ext cx="2624328" cy="2011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20700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Advances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74136" y="18562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17556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&gt; 8 for long-range paths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74136" y="25146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24140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CAL_MIN_DIST optimisation study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74136" y="317296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307238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Volume-based veg absorption (Sionna future)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74136" y="383133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3730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calibration via autodiff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1207008"/>
            <a:ext cx="2624328" cy="3474720"/>
          </a:xfrm>
          <a:prstGeom prst="roundRect">
            <a:avLst>
              <a:gd name="adj" fmla="val 2787"/>
            </a:avLst>
          </a:prstGeom>
          <a:solidFill>
            <a:srgbClr val="E8EDF5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207008"/>
            <a:ext cx="2624328" cy="438912"/>
          </a:xfrm>
          <a:prstGeom prst="roundRect">
            <a:avLst>
              <a:gd name="adj" fmla="val 16667"/>
            </a:avLst>
          </a:prstGeom>
          <a:solidFill>
            <a:srgbClr val="8099B0"/>
          </a:solidFill>
          <a:ln w="12700">
            <a:solidFill>
              <a:srgbClr val="809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444752"/>
            <a:ext cx="2624328" cy="201168"/>
          </a:xfrm>
          <a:prstGeom prst="rect">
            <a:avLst/>
          </a:prstGeom>
          <a:solidFill>
            <a:srgbClr val="8099B0"/>
          </a:solidFill>
          <a:ln w="12700">
            <a:solidFill>
              <a:srgbClr val="8099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20700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Extension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0488" y="185623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7556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1802 MHz calibration completion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0488" y="25146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41401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Cross-frequency comparison (915/1802)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90488" y="317296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07238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3.5 GHz / 26 GHz extension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0488" y="383133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730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Urban-rural scene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59536"/>
            <a:ext cx="1645920" cy="246888"/>
          </a:xfrm>
          <a:prstGeom prst="roundRect">
            <a:avLst>
              <a:gd name="adj" fmla="val 22222"/>
            </a:avLst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953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64592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Ofcom: 2018 Nottingham 915 MHz &amp; 1802 MHz measurement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97510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8366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Agency: EA LiDAR DTM/DSM (1m resolution)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30428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12848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OpenData + OpenStreetMap: road polygons, building footprints, land 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468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Tools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944368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52928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Sionna RT 2.0 (NVIDIA Research) — GPU-accelerated ray tracing engine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3273552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ecosystem: NumPy, SciPy, Shapely, Fiona, GDAL, python-pptx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60273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11296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DrJIT: differentiable just-in-time compiler (MIT licence)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673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Funding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4242816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51376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Name], [University / Department]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" y="4572000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80560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[Funding Body / Grant Reference]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" y="4901184"/>
            <a:ext cx="91440" cy="91440"/>
          </a:xfrm>
          <a:prstGeom prst="ellipse">
            <a:avLst/>
          </a:prstGeom>
          <a:solidFill>
            <a:srgbClr val="0B8FAC"/>
          </a:solidFill>
          <a:ln w="12700">
            <a:solidFill>
              <a:srgbClr val="0B8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09744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[Research Group / Lab Name]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731520"/>
            <a:ext cx="4572000" cy="4572000"/>
          </a:xfrm>
          <a:prstGeom prst="ellipse">
            <a:avLst/>
          </a:prstGeom>
          <a:solidFill>
            <a:srgbClr val="0B8FAC">
              <a:alpha val="12000"/>
            </a:srgbClr>
          </a:solidFill>
          <a:ln w="12700">
            <a:solidFill>
              <a:srgbClr val="0B8FAC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743200"/>
            <a:ext cx="2926080" cy="2926080"/>
          </a:xfrm>
          <a:prstGeom prst="ellipse">
            <a:avLst/>
          </a:prstGeom>
          <a:solidFill>
            <a:srgbClr val="5ECBE0">
              <a:alpha val="10000"/>
            </a:srgbClr>
          </a:solidFill>
          <a:ln w="12700">
            <a:solidFill>
              <a:srgbClr val="5ECBE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  |  [email@university.ac.uk]  |  [University]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37033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3560"/>
          </a:solidFill>
          <a:ln w="12700">
            <a:solidFill>
              <a:srgbClr val="0B8FAC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71800" y="37033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3560"/>
          </a:solidFill>
          <a:ln w="12700">
            <a:solidFill>
              <a:srgbClr val="0B8FA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 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37033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3560"/>
          </a:solidFill>
          <a:ln w="12700">
            <a:solidFill>
              <a:srgbClr val="0B8FA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0-750m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1E3560"/>
          </a:solidFill>
          <a:ln w="12700">
            <a:solidFill>
              <a:srgbClr val="0B8FA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39593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915 MHz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2026-07-19T06:26:59Z</dcterms:created>
  <dcterms:modified xsi:type="dcterms:W3CDTF">2026-07-19T06:26:59Z</dcterms:modified>
</cp:coreProperties>
</file>