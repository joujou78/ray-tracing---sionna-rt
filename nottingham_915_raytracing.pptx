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822960"/>
            <a:ext cx="2560320" cy="256032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 Tracing Simulation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Nottingham 915 MHz — Methodology &amp;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200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 ·  Ofcom 2018 Dataset  ·  Nottingham City Centre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Ofcom 2018 — Urban Propagation at 915 MHz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— Nottingham 915 MHz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332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 MHz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7099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Frequency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4048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7033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7764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km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4453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6309360" cy="3977640"/>
          </a:xfrm>
          <a:prstGeom prst="roundRect">
            <a:avLst>
              <a:gd name="adj" fmla="val 1839"/>
            </a:avLst>
          </a:prstGeom>
          <a:solidFill>
            <a:srgbClr val="E4EF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5156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Map of Nottingham study area with TX position and RX points]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4343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Ofcom 2018  ·  Transmitter: van-mounted 17 m AGL  ·  CRS: EPSG:27700 (British National Grid)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84832" y="2011680"/>
            <a:ext cx="109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1664208" cy="3520440"/>
          </a:xfrm>
          <a:prstGeom prst="roundRect">
            <a:avLst>
              <a:gd name="adj" fmla="val 4396"/>
            </a:avLst>
          </a:prstGeom>
          <a:solidFill>
            <a:srgbClr val="E4EFF5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0241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060704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(DTM)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48132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LiDAR DTM at 1 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1000×1000 mesh grid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 grid spacing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Pad: 3 km beyond scene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13048" y="2011680"/>
            <a:ext cx="109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914400"/>
            <a:ext cx="1664208" cy="3520440"/>
          </a:xfrm>
          <a:prstGeom prst="roundRect">
            <a:avLst>
              <a:gd name="adj" fmla="val 4396"/>
            </a:avLst>
          </a:prstGeom>
          <a:solidFill>
            <a:srgbClr val="E4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2715768" y="10241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1060704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31136" y="1627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31136" y="2057400"/>
            <a:ext cx="148132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footprints + nDSM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heights. 5 ITU-R materials: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brick, concrete, glass,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metal, wood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41264" y="2011680"/>
            <a:ext cx="109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67912" y="914400"/>
            <a:ext cx="1664208" cy="3520440"/>
          </a:xfrm>
          <a:prstGeom prst="roundRect">
            <a:avLst>
              <a:gd name="adj" fmla="val 4396"/>
            </a:avLst>
          </a:prstGeom>
          <a:solidFill>
            <a:srgbClr val="E4EF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3984" y="10241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443984" y="1060704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59352" y="1627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Water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59352" y="2057400"/>
            <a:ext cx="148132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Open Roads polygons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Trent (er = 80)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itu_asphalt material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union fix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69480" y="2011680"/>
            <a:ext cx="109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96128" y="914400"/>
            <a:ext cx="1664208" cy="3520440"/>
          </a:xfrm>
          <a:prstGeom prst="roundRect">
            <a:avLst>
              <a:gd name="adj" fmla="val 4396"/>
            </a:avLst>
          </a:prstGeom>
          <a:solidFill>
            <a:srgbClr val="E4EF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0241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060704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87568" y="1627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057400"/>
            <a:ext cx="148132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+ VOM + nDSM extra.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geometry (20 m grid).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Weissberger P.833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post-correction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24344" y="914400"/>
            <a:ext cx="1664208" cy="3520440"/>
          </a:xfrm>
          <a:prstGeom prst="roundRect">
            <a:avLst>
              <a:gd name="adj" fmla="val 4396"/>
            </a:avLst>
          </a:prstGeom>
          <a:solidFill>
            <a:srgbClr val="E4EF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900416" y="10241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900416" y="1060704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15784" y="1627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XML Export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15784" y="2057400"/>
            <a:ext cx="148132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XML.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PLYs referenced.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assigned.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simulate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Features — Full Nottingham Scene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508760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9966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Layer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960120"/>
            <a:ext cx="4114800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993392" y="9966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0" y="960120"/>
            <a:ext cx="3017520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153912" y="9966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ITU-R Material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62456"/>
            <a:ext cx="150876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9903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362456"/>
            <a:ext cx="411480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39903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LiDAR DTM, 1000×1000 grid, 10 m spacing, 3 km padding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362456"/>
            <a:ext cx="301752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39903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itu_wet_ground / itu_medium_dry_ground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508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4767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20240" y="1911096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9476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material classes from nDSM height + OSM footprints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911096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94767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itu_brick, itu_concrete, itu_glass, itu_metal, itu_wood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459736"/>
            <a:ext cx="150876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9631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2459736"/>
            <a:ext cx="411480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49631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Open Roads true-width polygons, junction union applied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2459736"/>
            <a:ext cx="301752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249631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itu_asphalt (εr = 2.56, locked)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008376"/>
            <a:ext cx="1508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04495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(River Trent)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008376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304495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water polygon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008376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04495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itu_water (εr = 80)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57016"/>
            <a:ext cx="150876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59359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3557016"/>
            <a:ext cx="411480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359359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+ VOM canopy + nDSM extra — disc geometry, 20 m spacing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3557016"/>
            <a:ext cx="3017520" cy="548640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359359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itu_vegetation (εr = 17, S = 0.5)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105656"/>
            <a:ext cx="1508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142232"/>
            <a:ext cx="1399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&amp; Railways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4105656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3392" y="414223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man_made + highway bridge + railway line polygons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4105656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53912" y="414223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itu_concrete / itu_metal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ITU-R P.2040 Material Parameters @ 915 MHz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214884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02336" y="950976"/>
            <a:ext cx="207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32888" y="914400"/>
            <a:ext cx="5943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2587752" y="950976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63824" y="914400"/>
            <a:ext cx="82296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18688" y="95097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(S/m)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914400"/>
            <a:ext cx="50292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078224" y="95097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5720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950976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298448"/>
            <a:ext cx="21488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335024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itu_brick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32888" y="1298448"/>
            <a:ext cx="5943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1335024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63824" y="1298448"/>
            <a:ext cx="8229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335024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0" y="1298448"/>
            <a:ext cx="5029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335024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298448"/>
            <a:ext cx="4572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335024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building walls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1773936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810512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itu_concrete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32888" y="1773936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1810512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63824" y="1773936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81051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1773936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78224" y="1810512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1773936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1810512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barriers, concrete bldgs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2249424"/>
            <a:ext cx="21488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286000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itu_glass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32888" y="2249424"/>
            <a:ext cx="5943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87752" y="2286000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6.27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63824" y="2249424"/>
            <a:ext cx="8229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18688" y="228600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0.0087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23360" y="2249424"/>
            <a:ext cx="5029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78224" y="2286000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2249424"/>
            <a:ext cx="4572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2286000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Glass-facade buildings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2724912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761488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itu_metal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32888" y="2724912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87752" y="2761488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163824" y="2724912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18688" y="276148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023360" y="2724912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78224" y="2761488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2724912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2761488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Metal-clad structures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7472" y="3200400"/>
            <a:ext cx="21488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3236976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itu_asphalt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32888" y="3200400"/>
            <a:ext cx="5943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7752" y="3236976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63824" y="3200400"/>
            <a:ext cx="8229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18688" y="3236976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23360" y="3200400"/>
            <a:ext cx="5029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78224" y="3236976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0" y="3200400"/>
            <a:ext cx="4572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236976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(εr locked, not calibrated)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7472" y="3675888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" y="3712464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itu_vegetation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32888" y="3675888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87752" y="3712464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163824" y="3675888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18688" y="3712464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023360" y="3675888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78224" y="3712464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3675888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26864" y="3712464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Discs + terrain veg zones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47472" y="4151376"/>
            <a:ext cx="21488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2336" y="4187952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itu_water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532888" y="4151376"/>
            <a:ext cx="5943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87952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163824" y="4151376"/>
            <a:ext cx="8229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18688" y="418795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023360" y="4151376"/>
            <a:ext cx="5029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78224" y="4187952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72000" y="4151376"/>
            <a:ext cx="4572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26864" y="4187952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Trent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47472" y="4626864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2336" y="4663440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itu_wet_ground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532888" y="4626864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87752" y="4663440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163824" y="4626864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18688" y="466344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0.323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023360" y="4626864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78224" y="4663440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0" y="4626864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26864" y="4663440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Wet/vegetation terrain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47472" y="5102352"/>
            <a:ext cx="21488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2336" y="5138928"/>
            <a:ext cx="2075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itu_medium_dry_ground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532888" y="5102352"/>
            <a:ext cx="5943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87752" y="5138928"/>
            <a:ext cx="521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163824" y="5102352"/>
            <a:ext cx="82296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18688" y="513892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023360" y="5102352"/>
            <a:ext cx="5029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078224" y="5138928"/>
            <a:ext cx="429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572000" y="5102352"/>
            <a:ext cx="4572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26864" y="5138928"/>
            <a:ext cx="4498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ground terrain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347472" y="4709160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 = relative permittivity · σ = conductivity · S = scattering coefficient  |  Source: ITU-R P.2040-2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Modelling — Three Complementary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9601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Polygons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130759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 · Forests · Named green areas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700784"/>
            <a:ext cx="2697480" cy="3127248"/>
          </a:xfrm>
          <a:prstGeom prst="roundRect">
            <a:avLst>
              <a:gd name="adj" fmla="val 2373"/>
            </a:avLst>
          </a:prstGeom>
          <a:solidFill>
            <a:srgbClr val="E4EFF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653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8288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OpenStreetMap landuse/natural tags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140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 horizontal discs at canopy top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99923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spacing: 20 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6210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5844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discs/polygon: 500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16966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major parks, Nottingham Forest area, golf courses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2697480" cy="73152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9601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Canopy (LiDAR)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30759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LiDAR-detected vegetation extent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700784"/>
            <a:ext cx="2697480" cy="3127248"/>
          </a:xfrm>
          <a:prstGeom prst="roundRect">
            <a:avLst>
              <a:gd name="adj" fmla="val 2373"/>
            </a:avLst>
          </a:prstGeom>
          <a:solidFill>
            <a:srgbClr val="E4EF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186537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9584" y="18288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Environment Agency VOM polygons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4505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29584" y="24140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 horizontal discs at canopy top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03580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299923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spacing: 20 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6210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529584" y="35844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mature urban tree canopy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420624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9584" y="416966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OSM where green areas are unnamed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2697480" cy="731520"/>
          </a:xfrm>
          <a:prstGeom prst="roundRect">
            <a:avLst>
              <a:gd name="adj" fmla="val 8750"/>
            </a:avLst>
          </a:prstGeom>
          <a:solidFill>
            <a:srgbClr val="027A5B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9601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nDSM Extra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130759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verges · Garden trees · Motorway belts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700784"/>
            <a:ext cx="2697480" cy="3127248"/>
          </a:xfrm>
          <a:prstGeom prst="roundRect">
            <a:avLst>
              <a:gd name="adj" fmla="val 2373"/>
            </a:avLst>
          </a:prstGeom>
          <a:solidFill>
            <a:srgbClr val="E4EF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1865376"/>
            <a:ext cx="128016" cy="128016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36" name="Text 34"/>
          <p:cNvSpPr/>
          <p:nvPr/>
        </p:nvSpPr>
        <p:spPr>
          <a:xfrm>
            <a:off x="6364224" y="18288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nDSM height raster (min 2 m threshold)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2450592"/>
            <a:ext cx="128016" cy="128016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38" name="Text 36"/>
          <p:cNvSpPr/>
          <p:nvPr/>
        </p:nvSpPr>
        <p:spPr>
          <a:xfrm>
            <a:off x="6364224" y="24140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 discs at nDSM surface height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3035808"/>
            <a:ext cx="128016" cy="128016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40" name="Text 38"/>
          <p:cNvSpPr/>
          <p:nvPr/>
        </p:nvSpPr>
        <p:spPr>
          <a:xfrm>
            <a:off x="6364224" y="299923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spacing: 10 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3621024"/>
            <a:ext cx="128016" cy="128016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35844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M1 corridor vegetation, verges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4206240"/>
            <a:ext cx="128016" cy="128016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44" name="Text 42"/>
          <p:cNvSpPr/>
          <p:nvPr/>
        </p:nvSpPr>
        <p:spPr>
          <a:xfrm>
            <a:off x="6364224" y="416966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gaps not in OSM or VOM polygons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Post-correction: ITU-R P.833 Weissberger model applied in CELL 8e (spatial STRtree index)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Configuration — Sionna RT 2.0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69080" cy="4041648"/>
          </a:xfrm>
          <a:prstGeom prst="roundRect">
            <a:avLst>
              <a:gd name="adj" fmla="val 1810"/>
            </a:avLst>
          </a:prstGeom>
          <a:solidFill>
            <a:srgbClr val="E4EFF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875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Tracing Parameters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70048" y="14173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 MHz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1801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70048" y="1801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bounces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1854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Samples: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70048" y="218541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rays / TX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25694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Samples: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0048" y="256946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 rays / TX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9535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Height AGL: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0048" y="295351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33375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Terrain elev.: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0048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 m ASL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Height AGL: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0048" y="372160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4105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Distance: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70048" y="410565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– 1.5 km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44897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Distance: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70048" y="448970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1.25 km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914400"/>
            <a:ext cx="4114800" cy="4041648"/>
          </a:xfrm>
          <a:prstGeom prst="roundRect">
            <a:avLst>
              <a:gd name="adj" fmla="val 1810"/>
            </a:avLst>
          </a:prstGeom>
          <a:solidFill>
            <a:srgbClr val="E4EFF5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987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Mechanisms Enabled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6592" y="15087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1417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Sight (LOS)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01768" y="167335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TX→RX ray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200253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001768" y="19110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Specular Reflection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01768" y="21671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bounce off surfaces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2496312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24048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Reflection (Scatter)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01768" y="266090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Lambertian surface scatter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990088"/>
            <a:ext cx="201168" cy="201168"/>
          </a:xfrm>
          <a:prstGeom prst="ellipse">
            <a:avLst/>
          </a:prstGeom>
          <a:solidFill>
            <a:srgbClr val="F0A03A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28986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(knife-edge UTD)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01768" y="315468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bending around building edges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3483864"/>
            <a:ext cx="201168" cy="201168"/>
          </a:xfrm>
          <a:prstGeom prst="ellipse">
            <a:avLst/>
          </a:prstGeom>
          <a:solidFill>
            <a:srgbClr val="F0A03A"/>
          </a:solidFill>
          <a:ln/>
        </p:spPr>
      </p:sp>
      <p:sp>
        <p:nvSpPr>
          <p:cNvPr id="38" name="Text 36"/>
          <p:cNvSpPr/>
          <p:nvPr/>
        </p:nvSpPr>
        <p:spPr>
          <a:xfrm>
            <a:off x="5001768" y="33924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Diffraction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01768" y="364845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urban NLOS edges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3977640"/>
            <a:ext cx="201168" cy="201168"/>
          </a:xfrm>
          <a:prstGeom prst="ellipse">
            <a:avLst/>
          </a:prstGeom>
          <a:solidFill>
            <a:srgbClr val="E8601C"/>
          </a:solidFill>
          <a:ln/>
        </p:spPr>
      </p:sp>
      <p:sp>
        <p:nvSpPr>
          <p:cNvPr id="41" name="Text 39"/>
          <p:cNvSpPr/>
          <p:nvPr/>
        </p:nvSpPr>
        <p:spPr>
          <a:xfrm>
            <a:off x="5001768" y="38862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01768" y="414223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through surfaces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6592" y="4471416"/>
            <a:ext cx="201168" cy="201168"/>
          </a:xfrm>
          <a:prstGeom prst="ellipse">
            <a:avLst/>
          </a:prstGeom>
          <a:solidFill>
            <a:srgbClr val="E8601C"/>
          </a:solidFill>
          <a:ln/>
        </p:spPr>
      </p:sp>
      <p:sp>
        <p:nvSpPr>
          <p:cNvPr id="44" name="Text 42"/>
          <p:cNvSpPr/>
          <p:nvPr/>
        </p:nvSpPr>
        <p:spPr>
          <a:xfrm>
            <a:off x="5001768" y="43799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Lit Region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01768" y="463600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on illuminated edge side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Calibration — Powell Optimiser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41448" y="1965960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E4EFF5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9875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1024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Scalar Offset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1847088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all 208 calibration RX at 2 M samples. Find global scalar dB offset via 1D bounded minimisation. Establishes RMSE baseline.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36008" y="1965960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91440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E4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3346704" y="9875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1024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Warm-Up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0048" y="2084832"/>
            <a:ext cx="1847088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Coordinate-descent sweep per material per parameter at 7.5 M samples. 90 targeted evaluations. Gives Powell a low-noise starting point.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30568" y="1965960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91440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E4EF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541264" y="987552"/>
            <a:ext cx="502920" cy="50292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8" name="Text 16"/>
          <p:cNvSpPr/>
          <p:nvPr/>
        </p:nvSpPr>
        <p:spPr>
          <a:xfrm>
            <a:off x="5541264" y="1024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Powell Joint Optimisation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084832"/>
            <a:ext cx="1847088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Powell method-of-conjugate-directions. 19 free params (9 mat × 2 + scalar). ftol = 0.15 dB, xtol = 0.05. N_avg = 2 per eval.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91440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E4EF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735824" y="987552"/>
            <a:ext cx="502920" cy="502920"/>
          </a:xfrm>
          <a:prstGeom prst="ellipse">
            <a:avLst/>
          </a:prstGeom>
          <a:solidFill>
            <a:srgbClr val="02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35824" y="1024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15727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Final Scalar Re-fit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59168" y="2084832"/>
            <a:ext cx="1847088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best material params from history. Re-run scalar offset at full precision. Save calibrated_materials.json + scalar_offset.json.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690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range: 0.15 – 1.5 km  |  208 receivers  |  CAL_FIX_SCATTER = True (εr + σ only)  |  Best-so-far recovery from eval history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ON Incoherent Method (Best)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11430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02336" y="950976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27048" y="914400"/>
            <a:ext cx="5486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81912" y="950976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12264" y="914400"/>
            <a:ext cx="9144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167128" y="950976"/>
            <a:ext cx="841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(dB)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914400"/>
            <a:ext cx="9601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118104" y="950976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(dB)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59936" y="914400"/>
            <a:ext cx="7315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9509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298448"/>
            <a:ext cx="1143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335024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300 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27048" y="1298448"/>
            <a:ext cx="5486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81912" y="133502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12264" y="1298448"/>
            <a:ext cx="9144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13350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1298448"/>
            <a:ext cx="9601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1335024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59936" y="1298448"/>
            <a:ext cx="7315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33502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177393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810512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500 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27048" y="1773936"/>
            <a:ext cx="548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1912" y="181051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12264" y="177393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67128" y="18105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1773936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1810512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59936" y="1773936"/>
            <a:ext cx="731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1810512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+0.664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2249424"/>
            <a:ext cx="1143000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286000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750 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27048" y="2249424"/>
            <a:ext cx="548640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81912" y="228600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12264" y="2249424"/>
            <a:ext cx="914400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67128" y="228600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63240" y="2249424"/>
            <a:ext cx="960120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18104" y="2286000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59936" y="2249424"/>
            <a:ext cx="731520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2286000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+0.835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17720" y="2340864"/>
            <a:ext cx="594360" cy="292608"/>
          </a:xfrm>
          <a:prstGeom prst="rect">
            <a:avLst>
              <a:gd name="adj" fmla="val 12500"/>
            </a:avLst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2724912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2761488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900 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527048" y="2724912"/>
            <a:ext cx="548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81912" y="276148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12264" y="272491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67128" y="27614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63240" y="2724912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18104" y="2761488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059936" y="2724912"/>
            <a:ext cx="731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2761488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+0.797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" y="3200400"/>
            <a:ext cx="11430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3236976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1000 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527048" y="3200400"/>
            <a:ext cx="54864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81912" y="323697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112264" y="3200400"/>
            <a:ext cx="91440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67128" y="32369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63240" y="3200400"/>
            <a:ext cx="9601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18104" y="3236976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059936" y="3200400"/>
            <a:ext cx="731520" cy="475488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0" y="3236976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+0.813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47472" y="3675888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" y="3712464"/>
            <a:ext cx="1069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1250 m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527048" y="3675888"/>
            <a:ext cx="548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81912" y="371246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12264" y="3675888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67128" y="371246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063240" y="3675888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18104" y="3712464"/>
            <a:ext cx="886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059936" y="3675888"/>
            <a:ext cx="731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0" y="371246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+0.741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29200" y="914400"/>
            <a:ext cx="3703320" cy="4041648"/>
          </a:xfrm>
          <a:prstGeom prst="roundRect">
            <a:avLst>
              <a:gd name="adj" fmla="val 1975"/>
            </a:avLst>
          </a:prstGeom>
          <a:solidFill>
            <a:srgbClr val="E4EFF5"/>
          </a:solidFill>
          <a:ln/>
        </p:spPr>
      </p:sp>
      <p:sp>
        <p:nvSpPr>
          <p:cNvPr id="75" name="Text 73"/>
          <p:cNvSpPr/>
          <p:nvPr/>
        </p:nvSpPr>
        <p:spPr>
          <a:xfrm>
            <a:off x="5138928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Scatter plot — Simulated vs Measured Path Loss (0–750 m)]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47472" y="4690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evaluation samples  ·  CAL_MIN_DIST_KM = 0.15  ·  MAX_DEPTH = 8  ·  Scattering ON, incoherent power sum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Nottingham 915 MHz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29968" cy="1325880"/>
          </a:xfrm>
          <a:prstGeom prst="roundRect">
            <a:avLst>
              <a:gd name="adj" fmla="val 5517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8755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6276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@  0 – 750 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32888" y="914400"/>
            <a:ext cx="2029968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532888" y="98755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 dB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32888" y="16276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@  0 – 750 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0016" y="914400"/>
            <a:ext cx="2029968" cy="1325880"/>
          </a:xfrm>
          <a:prstGeom prst="roundRect">
            <a:avLst>
              <a:gd name="adj" fmla="val 551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700016" y="98755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 dB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0016" y="16276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 @  0 – 750 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67144" y="914400"/>
            <a:ext cx="2029968" cy="1325880"/>
          </a:xfrm>
          <a:prstGeom prst="roundRect">
            <a:avLst>
              <a:gd name="adj" fmla="val 5517"/>
            </a:avLst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67144" y="987552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67144" y="16276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@  0 – 1000 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4187952" cy="1170432"/>
          </a:xfrm>
          <a:prstGeom prst="roundRect">
            <a:avLst>
              <a:gd name="adj" fmla="val 6250"/>
            </a:avLst>
          </a:prstGeom>
          <a:solidFill>
            <a:srgbClr val="E4EF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" y="252374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487168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Eval Samples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" y="2834640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samples gives best R² — 90 M and 200 M yield identical or slightly worse results. Diminishing returns beyond 100 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6592" y="2395728"/>
            <a:ext cx="4187952" cy="1170432"/>
          </a:xfrm>
          <a:prstGeom prst="roundRect">
            <a:avLst>
              <a:gd name="adj" fmla="val 6250"/>
            </a:avLst>
          </a:prstGeom>
          <a:solidFill>
            <a:srgbClr val="E4EF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252374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487168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Scattering ON + Incoherent Sum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834640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reflection ON with incoherent power combination outperforms coherent sum at 915 MHz. Scatter essential for NLOS.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4187952" cy="1170432"/>
          </a:xfrm>
          <a:prstGeom prst="roundRect">
            <a:avLst>
              <a:gd name="adj" fmla="val 6250"/>
            </a:avLst>
          </a:prstGeom>
          <a:solidFill>
            <a:srgbClr val="E4EF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" y="380390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767328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Near-Range Limitation (0 – 300 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" y="4114800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 at 0 – 300 m is structural — 8 receivers are in the mast shadow zone. Not a model deficiency.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3675888"/>
            <a:ext cx="4187952" cy="1170432"/>
          </a:xfrm>
          <a:prstGeom prst="roundRect">
            <a:avLst>
              <a:gd name="adj" fmla="val 6250"/>
            </a:avLst>
          </a:prstGeom>
          <a:solidFill>
            <a:srgbClr val="E4EFF5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4608" y="380390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767328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 Benefit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114800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vegetation, roads, water, bridges and railways improves R² progressively from 0.716 (buildings only) to 0.835 (full scene).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Feature Evolution — R² Improvement at 0 – 750 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402336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402336" y="950976"/>
            <a:ext cx="3950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Configuration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07408" y="914400"/>
            <a:ext cx="114300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4462272" y="950976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@ 750m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86984" y="914400"/>
            <a:ext cx="114300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5641848" y="950976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@ 1000m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0" y="914400"/>
            <a:ext cx="114300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6821424" y="950976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@ 1250m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298448"/>
            <a:ext cx="402336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353312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+ Terrain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7408" y="1298448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35331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86984" y="1298448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135331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298448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135331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1810512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865376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Grid disc vegetation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07408" y="181051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186537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86984" y="181051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1848" y="186537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810512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186537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2322576"/>
            <a:ext cx="402336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377440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Roads + Water + Vegetation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7408" y="2322576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2377440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86984" y="2322576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848" y="2377440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2322576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2377440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2834640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2889504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Bridges + Railways (uncal)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07408" y="28346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2889504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86984" y="28346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41848" y="2889504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8346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2889504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3346704"/>
            <a:ext cx="402336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3401568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scene, calibrated (500k, 1km)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07408" y="3346704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34015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86984" y="3346704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41848" y="34015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66560" y="3346704"/>
            <a:ext cx="1143000" cy="512064"/>
          </a:xfrm>
          <a:prstGeom prst="rect">
            <a:avLst/>
          </a:prstGeom>
          <a:solidFill>
            <a:srgbClr val="E4EFF5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34015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7472" y="3858768"/>
            <a:ext cx="4023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3913632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 (2M, 0.15km floor)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407408" y="3858768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62272" y="391363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86984" y="3858768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41848" y="391363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66560" y="3858768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1424" y="3913632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7472" y="4370832"/>
            <a:ext cx="4023360" cy="512064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" y="4425696"/>
            <a:ext cx="3950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 (100M eval, 0.15km)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4370832"/>
            <a:ext cx="1143000" cy="512064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62272" y="442569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586984" y="4370832"/>
            <a:ext cx="1143000" cy="512064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41848" y="442569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766560" y="4370832"/>
            <a:ext cx="1143000" cy="512064"/>
          </a:xfrm>
          <a:prstGeom prst="rect">
            <a:avLst/>
          </a:prstGeom>
          <a:solidFill>
            <a:srgbClr val="D4EFDF"/>
          </a:solidFill>
          <a:ln w="6350">
            <a:solidFill>
              <a:srgbClr val="CCDD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21424" y="4425696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 rot="16200000">
            <a:off x="7955280" y="914400"/>
            <a:ext cx="822960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Bar chart — R² vs scene configuration at 0-750m / 0-1000m / 0-1250m]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033272"/>
            <a:ext cx="7936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with full scene geometry achieves R² = 0.835 and RMSE = 6.0 dB at 0 – 750 m for 915 MHz in Nottingham.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64792"/>
            <a:ext cx="7936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propagation mechanisms — LOS, specular/diffuse reflection, knife-edge diffraction, refraction, edge diffraction — are required for best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96312"/>
            <a:ext cx="7936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modelling (OSM + VOM + nDSM discs + Weissberger P.833) is essential; full scene outperforms buildings-only by +0.12 R².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227832"/>
            <a:ext cx="7936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material calibration over ITU-R P.2040 parameters with 100 M evaluation samples gives a well-centred result (+0.8 dB bias).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959352"/>
            <a:ext cx="7936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Near-range (0 – 300 m, R² ≈ 0) is a structural limitation from mast-shadow LOS geometry, not a modelling deficiency.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 ·  Nottingham 915 MHz  ·  Ofcom 2018 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2026-07-23T19:49:08Z</dcterms:created>
  <dcterms:modified xsi:type="dcterms:W3CDTF">2026-07-23T19:49:08Z</dcterms:modified>
</cp:coreProperties>
</file>