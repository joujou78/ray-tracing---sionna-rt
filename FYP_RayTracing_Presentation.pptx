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Ray Tracing for Path Loss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4688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90E0EF"/>
                </a:solidFill>
              </a:rPr>
              <a:t>in Urban Environments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246120"/>
            <a:ext cx="502920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42900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Scene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342900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Nottingham · Ofcom 2018 Drive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81304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Frequency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3813048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915.95 MHz  (IoT / LoRaWAN band)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19709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4197096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Sionna RT 2.0  +  Sionna 0.19 Differentiable 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58114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Goal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4581144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Minimise RMSE against 1 200 real Ofcom measurements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1097280"/>
            <a:ext cx="2743200" cy="47548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0" y="25603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E3A52"/>
                </a:solidFill>
              </a:rPr>
              <a:t>[ Scene Render
or Coverage Map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Purpose &amp; Motivation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3657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3657600" cy="6400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1371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4D6D"/>
                </a:solidFill>
              </a:rPr>
              <a:t>⚠  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192024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Empirical models (COST-231,
Okumura-Hata) give 20–36 dB errors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28803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No terrain, no building geometry,
no material physics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38404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Fixed-environment formulas —
break in new cities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1234440"/>
            <a:ext cx="3657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60520" y="1234440"/>
            <a:ext cx="3657600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5112" y="1371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🎯  Our Goal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5112" y="192024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Minimise RMSE against
1 200 real Ofcom measurements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5112" y="28803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Reproduce physical propagation:
diffraction, reflection, scatter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38404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Differentiable RT calibration
(NVLabs Hoydis et al. 2023)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1234440"/>
            <a:ext cx="3657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1000" y="1234440"/>
            <a:ext cx="3657600" cy="640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1371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CB7F"/>
                </a:solidFill>
              </a:rPr>
              <a:t>📡  The Dataset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192024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Ofcom 2018 drive test
915.95 MHz, Nottingham 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5592" y="28803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1 200 receivers  |  0.3–9 km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65592" y="38404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RSSI range: −118 to −23 dBm
Noise floor: −124 dBm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RESEARCH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Research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54864" cy="7772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4904" y="1280160"/>
            <a:ext cx="11430000" cy="10241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3502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RQ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258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Flat Terrain vs DEM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1325880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How much does digital elevation modelling (DEM) improve path loss
prediction accuracy over a flat z = 0 scene in Nottingham?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560320"/>
            <a:ext cx="54864" cy="7772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4904" y="2450592"/>
            <a:ext cx="11430000" cy="10241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0545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RQ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49631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Differentiable RT Calibration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496312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Can Sionna 0.19 differentiable RT (NVLabs approach) achieve
&lt; 5 dB RMSE on the Ofcom 2018 UK dataset after calibration?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730752"/>
            <a:ext cx="54864" cy="7772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4" y="3621024"/>
            <a:ext cx="11430000" cy="10241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675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RQ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66674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Optimal Scene Configuration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3666744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Which combination of scene geometry, material parameters, and
ray-tracing settings best represents urban Nottingham at 915 MHz?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Simulation &amp; Calibration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1261872"/>
            <a:ext cx="1874519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B4D8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INPUT 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OSM + EA LiDAR
+ Ofcom CSV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39695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03703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03703" y="1261872"/>
            <a:ext cx="1874519" cy="54864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13431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90E0EF"/>
                </a:solidFill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13431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SCENE BUILDER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13431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13431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nDSM + ITU-R P.2040-2
+ Terrain PLY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6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51374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51374" y="1261872"/>
            <a:ext cx="1874519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61102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DCB7F"/>
                </a:solidFill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61102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RAY TRACING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61102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61102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Sionna 2.0 PathSolver
+ Sionna 0.19 Diff 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37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9045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99045" y="1261872"/>
            <a:ext cx="1874519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08773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9F1C"/>
                </a:solidFill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08773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CALIBRATION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08773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08773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Scalar (Cell 10b)
Material (Cell 11b)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82708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46716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46716" y="1261872"/>
            <a:ext cx="1874519" cy="54864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56444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4D6D"/>
                </a:solidFill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56444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ML RESIDUAL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56444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56444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ResidualMLP (Cell 15)
CNN+MLP (Cell 14)
MaterialMLP (Cell 16)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30379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94387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994387" y="1261872"/>
            <a:ext cx="1874519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04115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B4D8"/>
                </a:solidFill>
              </a:rPr>
              <a:t>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04115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VALIDATION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15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04115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RMSE · MAE · Bias
STD · R² per band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040" y="557784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E0EF"/>
                </a:solidFill>
              </a:rPr>
              <a:t>Output Metrics per Distance Band:   RMSE  |  MAE  |  Bias  |  STD  |  R²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INPUT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Ofcom Dataset — GPS to Sionna Receivers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64008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44752"/>
            <a:ext cx="292608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9903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Raw Ofcom CSV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39903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GPS (WGS84 lat/lon)  +  RSSI (dBm)  per measurement point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292608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21284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194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Filter &amp; Clean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Keep 915.95 MHz  ·  drop RSSI &lt; −124 dBm  ·  remove duplicates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35808"/>
            <a:ext cx="292608" cy="2926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008376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99008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CB7F"/>
                </a:solidFill>
              </a:rPr>
              <a:t>Coordinate Transform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9900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WGS84  →  UTM Zone 30N (EPSG:32630)  →  local scene XY (metres)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31336"/>
            <a:ext cx="292608" cy="2926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80390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78561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CB7F"/>
                </a:solidFill>
              </a:rPr>
              <a:t>Height Assignment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785616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RX Z = EA LiDAR DTM elevation  +  1.5 m AGL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26864"/>
            <a:ext cx="292608" cy="29260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59943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58114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9F1C"/>
                </a:solidFill>
              </a:rPr>
              <a:t>Sionna RX Array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458114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Each point  →  Receiver object  ·  isotropic antenna  ·  1 200 total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22392"/>
            <a:ext cx="292608" cy="292608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39496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3766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0E0EF"/>
                </a:solidFill>
              </a:rPr>
              <a:t>PL Reference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53766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PL_meas = TX_EIRP − RSSI_meas  (dB)  →  ground truth for RMSE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1234440"/>
            <a:ext cx="493776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49440" y="1234440"/>
            <a:ext cx="493776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86600" y="13716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Key Numbers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192024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Raw Ofcom points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46920" y="192024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~4 000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86600" y="23957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After filtering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6920" y="239572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1 200 receivers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287121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Coverage range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46920" y="287121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0.3 km – 9 km from TX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86600" y="334670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location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3467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(−1.2559°, 52.9863°)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86600" y="38221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height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46920" y="38221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17 m AGL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6600" y="42976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Frequency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6920" y="42976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915.95 MHz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86600" y="477316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RSSI range (meas)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46920" y="477316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−118 to −22.9 dBm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600" y="524865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Noise floor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6920" y="524865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−124 dBm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86600" y="572414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PL_meas range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57241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93.7 – 142.4 dB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SCENE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Scene Construction — Blender → OSM → Merged PLY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3840480" cy="5257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3840480" cy="6400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716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Stage 1 · Blender (Flat)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647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AD3DF"/>
                </a:solidFill>
              </a:rPr>
              <a:t>Manual · OSM importer plugin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121408"/>
            <a:ext cx="35661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✔  Pros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5237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Fast to build — one import/export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926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Full geometry cleanup in GUI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3284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Single merged PLY → Sionna loads in seconds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7764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✘  Cons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1239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No terrain — flat z=0 plane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5262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Nottingham hills completely absent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9286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Manual — not reproducible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5330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8–15 dB error at 300–1500 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4528" y="1234440"/>
            <a:ext cx="3840480" cy="5257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24528" y="1234440"/>
            <a:ext cx="3840480" cy="640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61688" y="13716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Stage 2 · OSM Direct (DEM)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1688" y="17647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AD3DF"/>
                </a:solidFill>
              </a:rPr>
              <a:t>Automated · Python OSMnx + scene builder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61688" y="2121408"/>
            <a:ext cx="35661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1688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✔  Pros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25237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Fully automated &amp; reproducible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2926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ITU-R P.2040-2 materials per building type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61688" y="33284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Real terrain from EA LiDAR (2 m res)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37764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✘  Cons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61688" y="41239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OSM heights often missing → estimated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61688" y="45262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OSM tags inconsistent across Nottingham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61688" y="49286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Longer scene build time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74736" y="1234440"/>
            <a:ext cx="3840480" cy="5257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74736" y="1234440"/>
            <a:ext cx="3840480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11896" y="13716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Stage 3 · Merged PLY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1896" y="17647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AD3DF"/>
                </a:solidFill>
              </a:rPr>
              <a:t>Why we merged 150 k files → one per material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11896" y="2121408"/>
            <a:ext cx="35661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11896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✔  Pros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11896" y="25237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Scene load: 20 min → 45 sec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11896" y="2926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Single BVH → 50× faster ray traversal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1896" y="33284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No GPU memory fragmentation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1896" y="37307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Solve rate improved directly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11896" y="417880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✘  Cons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1896" y="45262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Per-material merge requires preprocessing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11896" y="49286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Harder to inspect individual buildings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ERROR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Known Error Sources — Building Heights &amp; Terrain Geometry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188720"/>
            <a:ext cx="5486400" cy="26060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188720"/>
            <a:ext cx="548640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9844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Building Height Problem — Both Scenes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556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OSM height tag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75564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Only ~30% of buildings have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7556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70% use estimate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1396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building:levels tag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21396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height = levels × 3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1396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Wrong for mixed-use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5237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No tag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25237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Default 8 m applied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25237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Underestimates tall buildings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90779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Industrial/warehouse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29077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Tagged as residential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90779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Wrong shadowing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33756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9F1C"/>
                </a:solidFill>
              </a:rPr>
              <a:t>→ Wrong building heights = wrong diffraction angles = wrong path loss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3931920"/>
            <a:ext cx="5394960" cy="25603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3931920"/>
            <a:ext cx="5394960" cy="54864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04164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4D6D"/>
                </a:solidFill>
              </a:rPr>
              <a:t>Flat Terrain Errors (Sionna v1)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49884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Terrain missing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49884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All buildings on z=0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49884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+8–15 dB overestimate 300–1500 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8828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Ground reflection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488289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Flat plane — wrong angle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48828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~3–5 dB additional bias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26694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RX height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526694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1.5 m above z=0, not real ground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526694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Some RX inside terrain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0" y="1188720"/>
            <a:ext cx="5943600" cy="26060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43600" y="1188720"/>
            <a:ext cx="5943600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129844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DEM Terrain Errors (Sionna v2)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17556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Building heights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35240" y="175564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DEM fixes ground Z, not building tops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60" y="17556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Residual ±3–8 dB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21396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DEM resolution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5240" y="213969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2 m — small walls/hedges missed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21396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Minor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25237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Roof geometry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35240" y="252374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Flat-roof box — no pitched roofs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95560" y="25237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Diffraction angle error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0" y="3931920"/>
            <a:ext cx="5943600" cy="25603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943600" y="3931920"/>
            <a:ext cx="59436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80760" y="404164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Key Takeaway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448056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Flat terrain: dominant error is missing hills → systematic bias
DEM terrain: dominant error is building height estimation → random scatter
Both improve with material calibration — but building height is a hard geometric limit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ELEVATION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Elevation Data Sources — DTM, DSM &amp; nDSM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3749039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3749039" cy="640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716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DCB7F"/>
                </a:solidFill>
              </a:rPr>
              <a:t>DTM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874519"/>
            <a:ext cx="3520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AD3DF"/>
                </a:solidFill>
              </a:rPr>
              <a:t>Digital Terrain 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267712"/>
            <a:ext cx="342899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2377440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Captures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77440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Bare earth only
(ground, roads, rivers)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090672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3090672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EA LiDAR 1m
(last / ground returns)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803904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Use in scene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3803904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Terrain mesh PLY
→ correct RX ground 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4517136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36192" y="4517136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No buildings or trees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23943" y="1234440"/>
            <a:ext cx="3749039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23943" y="1234440"/>
            <a:ext cx="3749039" cy="6400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88535" y="13716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9F1C"/>
                </a:solidFill>
              </a:rPr>
              <a:t>DSM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5" y="1874519"/>
            <a:ext cx="3520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AD3DF"/>
                </a:solidFill>
              </a:rPr>
              <a:t>Digital Surface Model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88535" y="2267712"/>
            <a:ext cx="342899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88535" y="2377440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Captures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85815" y="2377440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Everything — ground +
buildings + trees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5" y="3090672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Source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85815" y="3090672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EA LiDAR 1m
(first returns)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88535" y="3803904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Use in scene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85815" y="3803904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Building height
estimation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5" y="4517136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Limitation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85815" y="4517136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Cannot separate building
from terrain directly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73566" y="1234440"/>
            <a:ext cx="3749039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73566" y="1234440"/>
            <a:ext cx="3749039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58" y="13716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B4D8"/>
                </a:solidFill>
              </a:rPr>
              <a:t>nDSM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58" y="1874519"/>
            <a:ext cx="3520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AD3DF"/>
                </a:solidFill>
              </a:rPr>
              <a:t>Normalised DSM = DSM − DTM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38158" y="2267712"/>
            <a:ext cx="342899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58" y="2377440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Captures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38" y="2377440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Height of objects
ABOVE ground only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58" y="3090672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38" y="3090672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Derived: DSM − DTM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58" y="3803904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Use in scene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38" y="3803904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Accurate per-building
AGL height from LiDAR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8158" y="4517136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Limitation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5438" y="4517136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Requires both DTM
&amp; DSM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74720" y="5989320"/>
            <a:ext cx="5212080" cy="53035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474720" y="5989320"/>
            <a:ext cx="521208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0" y="606247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nDSM = DSM − DTM   →   object height above ground (buildings, trees)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RESULTS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RMSE Results — Flat / DTM / nDSM Scene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32588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Scene Config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3258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Terrain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13258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Building Heights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325880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RMSE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1325880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Bias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13258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Key Issue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691640"/>
            <a:ext cx="1170432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1828800"/>
            <a:ext cx="45720" cy="11887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1828800"/>
            <a:ext cx="11612880" cy="1188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3192" y="205740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Flat z=0
(Sionna v1)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2057400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None — z=0 plane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205740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OSM estimate / default 8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2057400"/>
            <a:ext cx="1005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4D6D"/>
                </a:solidFill>
              </a:rPr>
              <a:t>19.6 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2057400"/>
            <a:ext cx="822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−4.4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1993392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Missing hills → +8–15 dB overestimate
at 300–1500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127248"/>
            <a:ext cx="45720" cy="1188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127248"/>
            <a:ext cx="11612880" cy="1188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" y="3355848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DTM terrain
(Sionna v2)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3355848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EA LiDAR DTM 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3355848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OSM floor count / default 8 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3355848"/>
            <a:ext cx="1005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9F1C"/>
                </a:solidFill>
              </a:rPr>
              <a:t>14.1 dB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20" y="3355848"/>
            <a:ext cx="822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~0 dB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29184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Building height estimation
still introduces ±3–8 dB scatter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425696"/>
            <a:ext cx="45720" cy="1188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4425696"/>
            <a:ext cx="11612880" cy="1188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" y="4654296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nDSM heights
(2.8–6 GHz)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4654296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EA LiDAR DTM 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60520" y="4654296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LiDAR nDSM (accurate AGL)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840" y="4654296"/>
            <a:ext cx="1005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B4D8"/>
                </a:solidFill>
              </a:rPr>
              <a:t>Used in
2.8 GHz scene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8120" y="4654296"/>
            <a:ext cx="822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32520" y="4590288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Rooftop equip added —
only valid at higher frequencies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5577840"/>
            <a:ext cx="11612880" cy="8686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0040" y="5577840"/>
            <a:ext cx="1161288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68756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Key Finding:  DTM terrain alone reduces RMSE by 5.5 dB (19.6 → 14.1 dB).  Bias drops from −4.4 dB → ~0 dB.  Terrain is essential — building height remains the next bottleneck.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SCENE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Final Scene: scene_v2_infra — How DTM + nDSM Are Merged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54864" cy="68580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4904" y="1261872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35024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EA LiDAR DTM 1m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1335024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Ground-only elevation raster (GeoTIFF)
Covered: 11×11 km Nottingham bbox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1945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395728"/>
            <a:ext cx="54864" cy="68580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4904" y="2286000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59152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EA LiDAR DSM 1m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359152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First-return surface raster
Includes buildings + trees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21868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419856"/>
            <a:ext cx="54864" cy="6858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4" y="3310128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38328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nDSM = DSM − DTM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3383280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Per-pixel height above ground
Median filter → remove LiDAR spikes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242816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443984"/>
            <a:ext cx="54864" cy="68580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4904" y="4334256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407408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0E0EF"/>
                </a:solidFill>
              </a:rPr>
              <a:t>OSM Footprints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4407408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Building polygons + landuse tags
Height assigned from nDSM median under footprint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526694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5468112"/>
            <a:ext cx="54864" cy="68580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4904" y="5358384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431536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scene_v2_infra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5431536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terrain.ply (DTM mesh) + building meshes
+ road/veg/infra + ITU-R P.2040-2 materials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40" y="629107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0" y="1234440"/>
            <a:ext cx="466344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15200" y="1234440"/>
            <a:ext cx="466344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52360" y="1371600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What Each Layer Contributes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1947671"/>
            <a:ext cx="36576" cy="65836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8" y="1920239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DCB7F"/>
                </a:solidFill>
              </a:rPr>
              <a:t>DTM terrain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87968" y="1920239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Correct ground Z
→ RX at real AGL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51008" y="1920239"/>
            <a:ext cx="1508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8–15 dB bias removed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06640" y="2825495"/>
            <a:ext cx="36576" cy="6583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16368" y="2798063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nDSM heights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87968" y="2798063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Accurate building
heights from LiDAR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51008" y="2798063"/>
            <a:ext cx="1508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Correct diffraction angles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06640" y="3703319"/>
            <a:ext cx="36576" cy="658368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16368" y="3675887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OSM footprints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87968" y="3675887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Building positions
and 2D shapes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51008" y="3675887"/>
            <a:ext cx="1508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3D geometry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4581143"/>
            <a:ext cx="36576" cy="65836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16368" y="4553711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9F1C"/>
                </a:solidFill>
              </a:rPr>
              <a:t>ITU materials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87968" y="4553711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EM properties
per surface type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51008" y="4553711"/>
            <a:ext cx="1508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Physical reflection/scatter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RAY TRACING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Ray Tracing Configuration — Mechanisms &amp; Parameters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39496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39496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Ray Mechanisms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65959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20239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901951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901951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Direct path TX → RX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715767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670047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651759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Specular Reflection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651759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Building face bounce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465575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419855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401567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Diffraction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3401567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Over rooftops / wedge edges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215383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169663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151375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Edge Diffraction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4151375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Around building corners — dominant NLOS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965191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19471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901183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Scattering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88920" y="4901183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Lambertian rough surface diffuse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5760720"/>
            <a:ext cx="5394960" cy="685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83387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0E0EF"/>
                </a:solidFill>
              </a:rPr>
              <a:t>72% of rays are diffraction — edge diffraction is the dominant
propagation mechanism in urban Nottingham NLOS at 915 MHz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1234440"/>
            <a:ext cx="5943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43600" y="1234440"/>
            <a:ext cx="594360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137160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9F1C"/>
                </a:solidFill>
              </a:rPr>
              <a:t>Solver Parameters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1874519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Frequency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1874519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915.95 MHz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0760" y="2350007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MAX_DEPTH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350007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7  (up to 7 bounces)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80760" y="2825495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NUM_SAMPLES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2825495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10 000 000  (NVLabs approach)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3300983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height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3300983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17 m AGL  (mast)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0760" y="3776471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RX height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66760" y="3776471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1.5 m AGL  (IoT device)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0760" y="4251959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antenna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4251959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Dipole — donut pattern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80760" y="4727447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RX antenna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4727447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Isotropic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80760" y="5202935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Noise floor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6760" y="5202935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−124 dBm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0760" y="5678423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BATCH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66760" y="5678423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 receiver per solve (NVLabs)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OSM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OSM Features Downloaded — Role in Propagation Physics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57784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57784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Feature Classes Downloaded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956815"/>
            <a:ext cx="36576" cy="2743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874519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Buildings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874519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building=*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1874519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52 248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1874519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Brick/Concrete/Glass/Metal/Wood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432303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350007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Roads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2350007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highway=*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350007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Full 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2350007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Asphalt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907791"/>
            <a:ext cx="36576" cy="2743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825495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DCB7F"/>
                </a:solidFill>
              </a:rPr>
              <a:t>Trees/Vegetation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2825495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natural=tree, landuse=forest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825495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~273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60" y="2825495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Vegetation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383279"/>
            <a:ext cx="36576" cy="2743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300983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9F1C"/>
                </a:solidFill>
              </a:rPr>
              <a:t>Masts/Towers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3300983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man_made=mast/tower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3300983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100s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60" y="3300983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Metal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3858767"/>
            <a:ext cx="36576" cy="2743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776471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9F1C"/>
                </a:solidFill>
              </a:rPr>
              <a:t>Power pylons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3776471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power=tower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3776471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100s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1960" y="3776471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Metal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334255"/>
            <a:ext cx="36576" cy="2743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251959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4D6D"/>
                </a:solidFill>
              </a:rPr>
              <a:t>Railways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4251959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railway=rail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4251959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Full net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4251959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Metal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4809743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4727447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Water bodies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20240" y="4727447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natural=water, waterway=*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4727447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Polygons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1960" y="4727447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Water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285231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5202935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Barriers/embank.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20240" y="5202935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barrier=*, embankment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0" y="5202935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Many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51960" y="5202935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Concrete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5760719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5678423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Car parks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20240" y="5678423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amenity=parking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57600" y="5678423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Many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51960" y="5678423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Concrete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35040" y="1234440"/>
            <a:ext cx="589788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35040" y="1234440"/>
            <a:ext cx="589788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72200" y="13716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Propagation Impact per Feature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126480" y="1956815"/>
            <a:ext cx="36576" cy="2743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36208" y="1874519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Buildings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07808" y="1874519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Diffraction + reflection — dominant NLOS loss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808208" y="1874519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00B4D8"/>
                </a:solidFill>
              </a:rPr>
              <a:t>Primary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26480" y="2578607"/>
            <a:ext cx="36576" cy="2743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36208" y="2496311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9F1C"/>
                </a:solidFill>
              </a:rPr>
              <a:t>Metal masts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07808" y="2496311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Strong specular reflectors — secondary paths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08208" y="2496311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FF9F1C"/>
                </a:solidFill>
              </a:rPr>
              <a:t>+2–5 dB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126480" y="3200399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36208" y="3118103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Roads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07808" y="3118103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Ground bounce — 2-ray interference pattern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08208" y="3118103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CAD3DF"/>
                </a:solidFill>
              </a:rPr>
              <a:t>±3 dB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26480" y="3822191"/>
            <a:ext cx="36576" cy="2743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36208" y="3739895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DCB7F"/>
                </a:solidFill>
              </a:rPr>
              <a:t>Vegetation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07808" y="3739895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Absorption + scatter (P.833) up to 67 dB at 9 km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08208" y="3739895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2DCB7F"/>
                </a:solidFill>
              </a:rPr>
              <a:t>+12–27 dB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126480" y="4443983"/>
            <a:ext cx="36576" cy="2743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36208" y="4361687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4D6D"/>
                </a:solidFill>
              </a:rPr>
              <a:t>Railways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07808" y="4361687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Specular waveguide along rail corridors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808208" y="4361687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FF4D6D"/>
                </a:solidFill>
              </a:rPr>
              <a:t>Elevated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26480" y="5065775"/>
            <a:ext cx="36576" cy="27432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236208" y="4983479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Water (Trent)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07808" y="4983479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Near-specular reflection — local enhancement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808208" y="4983479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90E0EF"/>
                </a:solidFill>
              </a:rPr>
              <a:t>Local +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26480" y="5687567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236208" y="5605271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Barriers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607808" y="5605271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Extra diffraction edges — additional shielding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808208" y="5605271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CAD3DF"/>
                </a:solidFill>
              </a:rPr>
              <a:t>+2–8 dB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20040" y="6492240"/>
            <a:ext cx="11612880" cy="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7200" y="629107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90E0EF"/>
                </a:solidFill>
              </a:rPr>
              <a:t>Metal infrastructure (σ = 10⁷ S/m) added in scene_v2_infra — absent in flat baseline.  At 915 MHz metal surfaces are near-perfect reflectors creating strong secondary paths.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TX / RX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TX &amp; RX Placement — GPS to Scene + Ray-Cast 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3657600" cy="2926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365760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TX — Transmitter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GPS (WGS84)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82880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−1.25590°,  52.98630°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Transform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WGS84 → UTM 30N → scene XY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52374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Terrain 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52374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~79 m ODN  (EA LiDAR DTM)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87121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AGL height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87121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+17 m  (mast)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21868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Scene 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21868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~96 m absolute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56616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Antenna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5661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Dipole — donut pattern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91363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Ray-cast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91363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Downward ray → above terrain 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0520" y="1234440"/>
            <a:ext cx="7772400" cy="2926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1234440"/>
            <a:ext cx="7772400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0" y="1371600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RX — 1200 Ofcom Receivers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79392" y="1883664"/>
            <a:ext cx="219456" cy="21945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79392" y="1856232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18288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GPS (WGS84)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18288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→  UTM Zone 30N (EPSG:32630)  →  local scene XY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79392" y="2304288"/>
            <a:ext cx="219456" cy="21945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79392" y="2276856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2249424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DEM lookup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2249424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Bilinear interpolation at (x,y) → terrain Z from LiDAR DTM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79392" y="2724912"/>
            <a:ext cx="219456" cy="219456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79392" y="2697480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267004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Height assignment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40" y="267004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RX Z = terrain Z + 1.5 m AGL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79392" y="3145536"/>
            <a:ext cx="219456" cy="219456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79392" y="3118104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309067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Ray-cast check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5040" y="3090672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Shoot ray downward → if first hit above RX → inside building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79392" y="3566160"/>
            <a:ext cx="219456" cy="219456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79392" y="3538728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3511296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Fix if invalid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5040" y="3511296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Raise RX to building roof + 0.1 m  OR  exclude from solve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4343400"/>
            <a:ext cx="11612880" cy="2148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0040" y="4343400"/>
            <a:ext cx="11612880" cy="54864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4622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4D6D"/>
                </a:solidFill>
              </a:rPr>
              <a:t>Why Positioning Validation Matters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4892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RX inside building footprint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40480" y="48920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Spawned in solid geometry → no paths → NaN RSSI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0" y="48920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Ray-cast detects → adjust 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527608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TX near building face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40480" y="527608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Rays immediately blocked → unrealistic near-field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80960" y="527608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Minimum clearance check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566013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DEM returns 0 at scene edge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40480" y="5660136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RX at z=1.5 m → inside terrain → all paths blocked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80960" y="5660136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Fallback to median terrain Z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604418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Ofcom GPS imprecision ±3–10 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840480" y="6044184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RX may be on wrong side of building wall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604418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Accepted — statistical uncertainty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