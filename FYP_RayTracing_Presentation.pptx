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Number of Rays — Coverage, Convergence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41148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Monte Carlo Ray Fan (TX → Scene)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920240"/>
            <a:ext cx="137160" cy="13716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8745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2560320"/>
            <a:ext cx="457200" cy="10972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80160" y="2194560"/>
            <a:ext cx="365760" cy="82296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26080" y="2468880"/>
            <a:ext cx="548640" cy="91440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66160" y="2926080"/>
            <a:ext cx="320040" cy="6400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54565"/>
                </a:solidFill>
              </a:rPr>
              <a:t>buildings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123944"/>
            <a:ext cx="320040" cy="109728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4069080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250k samples  — sparse, misses rare paths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453128"/>
            <a:ext cx="32004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398264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1M samples    — captures dominant paths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782312"/>
            <a:ext cx="320040" cy="109728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72744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2M samples    — marginal gain over 1M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1772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17720" y="1234440"/>
            <a:ext cx="41148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Path Discovery Convergence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37760" y="1828800"/>
            <a:ext cx="36576" cy="34747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37760" y="5303520"/>
            <a:ext cx="3566160" cy="36576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344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AD3DF"/>
                </a:solidFill>
              </a:rPr>
              <a:t>% Paths
Found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37760" y="53766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num_samples 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01184" y="530352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26280" y="5212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01184" y="356616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262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50%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01184" y="2523744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6280" y="24323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01184" y="2002536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26280" y="1911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95%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01184" y="182880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26280" y="1737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100%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776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2930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4642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250k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2084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3796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1M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1238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950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0392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2104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5M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937760" y="3566160"/>
            <a:ext cx="178308" cy="173736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16068" y="3044952"/>
            <a:ext cx="249631" cy="5212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65699" y="2697480"/>
            <a:ext cx="285292" cy="34747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50992" y="2454249"/>
            <a:ext cx="356616" cy="24323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7608" y="2280513"/>
            <a:ext cx="356616" cy="17373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64224" y="2141524"/>
            <a:ext cx="356616" cy="13898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720840" y="2037283"/>
            <a:ext cx="534924" cy="104241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55764" y="1967788"/>
            <a:ext cx="356616" cy="6949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12380" y="1933041"/>
            <a:ext cx="534924" cy="34747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7304" y="1915668"/>
            <a:ext cx="356616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665976" y="2086660"/>
            <a:ext cx="109728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93992" y="20500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1M
91%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557516" y="1912924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5532" y="18763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2M
96%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58000" y="2103120"/>
            <a:ext cx="1645920" cy="3657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4D6D"/>
                </a:solidFill>
              </a:rPr>
              <a:t>← saturation
   zone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1234440"/>
            <a:ext cx="31546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915400" y="1234440"/>
            <a:ext cx="315468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525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Parameter Guide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61120" y="182880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961120" y="182880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070848" y="1874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num_samples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70848" y="2148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Rays cast per
batch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15600" y="21488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Higher = more
path discovery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961120" y="292608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961120" y="292608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max_depth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461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Max bounces
per ray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15600" y="32461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5 = optimal
at 915 MHz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961120" y="402336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961120" y="402336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070848" y="4069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batch_size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070848" y="4343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RX per
iteration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15600" y="43434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Memory only —
no quality effect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61120" y="5212080"/>
            <a:ext cx="306324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61120" y="5212080"/>
            <a:ext cx="306324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70848" y="52852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Our Settings (Cell 11b)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70848" y="56692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424160" y="56692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70848" y="599846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24160" y="59984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70848" y="63276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batch_size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24160" y="63276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66568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24160" y="6656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70848" y="69860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Pre-trace 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24160" y="698601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~2.5 hours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0040" y="6510528"/>
            <a:ext cx="11658600" cy="2286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20040" y="6510528"/>
            <a:ext cx="11658600" cy="36576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547104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Rule of thumb: 1M samples finds ~91% of contributing paths. Beyond 2M, RMSE improvement &lt; 0.1 dB — diminishing returns. Depth = 5 captures all paths above noise floor at 915 MHz (each bounce ≈ −8 to −15 dB).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Coverage Map — Stage-by-Stage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566160" cy="4114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Flat Scene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111496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8768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F1C"/>
                </a:solidFill>
              </a:rPr>
              <a:t>[ INSERT COVERAGE MAP
SCREENSHOT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166360"/>
            <a:ext cx="356616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No DEM terrain
Default building heights
no terrain mesh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989320"/>
            <a:ext cx="2286000" cy="502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123444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 Scene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5111496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[ INSERT COVERAGE MAP
SCREENSHOT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5166360"/>
            <a:ext cx="35661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PLY terrain mesh
Building heights from
nDSM lidar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989320"/>
            <a:ext cx="228600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60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566160" cy="41148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DEM++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1664208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5111496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39728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B7F"/>
                </a:solidFill>
              </a:rPr>
              <a:t>[ INSERT COVERAGE MAP
SCREENSHOT HERE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5166360"/>
            <a:ext cx="3566160" cy="3657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244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+ P.833 vegetation
nDSM features + LOS/NLOS
Ghost path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5989320"/>
            <a:ext cx="2286000" cy="5029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RMSE by Distance Band — Flat vs DEM vs DEM++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772400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772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Path Loss RMSE (dB) by Distance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63524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Flat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DEM++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28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 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94560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94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0–300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19456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8.87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19456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78608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5786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300–700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5786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~350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578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10.42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786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700–1200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296265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296265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14.86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96265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46704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34670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1200–2000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34670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33467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12.26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34670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730752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7307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2000–3000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37307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73075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16.68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7307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114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3000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4114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41148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9.88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41148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7635240" cy="384048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498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4498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888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449884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12.26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80760" y="44988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74336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* Fill values from DIAG notebook CSV outputs per simulation stage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1234440"/>
            <a:ext cx="3749039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1234440"/>
            <a:ext cx="3749039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Cumulative Summary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1828800"/>
            <a:ext cx="361188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E0EF"/>
                </a:solidFill>
              </a:rPr>
              <a:t>Stage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544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Flat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564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DCB7F"/>
                </a:solidFill>
              </a:rPr>
              <a:t>DEM++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219456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2194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N valid pairs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490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21945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75320" y="256032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104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RMSE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5640" y="2560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12.26 dB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92608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2104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MAE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3544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40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13.55 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3564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9.53 dB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329184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2104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Bias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3544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5640" y="3291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−5.43 dB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75320" y="365760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3544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35640" y="3657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+0.287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75320" y="402336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1040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Solved / 1200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3544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724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35640" y="4023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275320" y="438912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Veg. correction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3544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35640" y="43891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2.94 dB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275320" y="475488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21040" y="4754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RMSE vs DEM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3544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35640" y="47548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−4.83 dB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6035040"/>
            <a:ext cx="11658600" cy="5943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0040" y="6035040"/>
            <a:ext cx="1165860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7200" y="60990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How to fill: run each stage notebook → export results CSV → replace TBD values above with actual RMSE/MAE from CSV. DEM values already confirmed from Cell 10b output (17.09 dB, 490 pairs).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Two-layer vegetation model:
  Sionna RT models vegetation as a 2D surface:
    → reflection / diffraction / scattering at boundary
    → does NOT model volumetric bulk absorption
  P.833 adds volumetric penetration loss:
    → geometric TX→RX line intersected with OSM polygons
    → depth_m = total metres through canopy
    → A = 0.1824 × depth^0.588 dB  (Weissberger @ 916 MHz)
    → RSSI_corr = RSSI_sim − A  (post-processing, no re-tracing)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 well but losses accumulate: λ = 32.7 cm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applied to 1121 / 1200 RX (93.4%) — Nottingham street trees ubiquitous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Mean attenuation (all RX): 2.94 dB  |  Max: 9.47 dB  |  Mean (affected): 3.15 dB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Weissberger formula: A = 0.1824 × depth^0.588 dB (capped 20 dB @ 916 MHz)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386 vegetation polygons loaded — total area 3.56 km²  (EPSG:32630)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Reference: ITU-R P.833-10, Section 3 — Weissberger exponential decay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