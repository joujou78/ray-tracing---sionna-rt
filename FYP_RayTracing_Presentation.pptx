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Ray Tracing for Path Loss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90E0EF"/>
                </a:solidFill>
              </a:rPr>
              <a:t>in Urban Environments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246120"/>
            <a:ext cx="502920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Scene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342900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Nottingham · Ofcom 2018 Drive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130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81304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915.95 MHz  (IoT / LoRaWAN band)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19709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4197096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Sionna RT 2.0  +  Sionna 0.19 Differentiable 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811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Goal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58114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Minimise RMSE against 1 200 real Ofcom measurements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097280"/>
            <a:ext cx="2743200" cy="47548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25603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E3A52"/>
                </a:solidFill>
              </a:rPr>
              <a:t>[ Scene Render
or Coverage Map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Purpose &amp; 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657600" cy="6400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⚠ 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Empirical models (COST-231,
Okumura-Hata) give 20–36 dB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No terrain, no building geometry,
no material physics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Fixed-environment formulas —
break in new cities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234440"/>
            <a:ext cx="365760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🎯  Our Goal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Minimise RMSE against
1 200 real Ofcom measurements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Reproduce physical propagation:
diffraction, reflection, scatter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Differentiable RT calibration
(NVLabs Hoydis et al.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234440"/>
            <a:ext cx="365760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CB7F"/>
                </a:solidFill>
              </a:rPr>
              <a:t>📡  The 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Ofcom 2018 drive test
915.95 MHz, Nottingham 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559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1 200 receivers  |  0.3–9 km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559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RSSI range: −118 to −23 dBm
Noise floor: −124 dBm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Research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54864" cy="777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80160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3502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RQ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25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Flat Terrain vs DEM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32588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How much does digital elevation modelling (DEM) improve path loss
prediction accuracy over a flat z = 0 scene in Nottingham?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560320"/>
            <a:ext cx="54864" cy="7772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4" y="2450592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0545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RQ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4963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Differentiable RT Calibration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496312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Can Sionna 0.19 differentiable RT (NVLabs approach) achieve
&lt; 5 dB RMSE on the Ofcom 2018 UK dataset after calibration?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730752"/>
            <a:ext cx="54864" cy="7772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3621024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675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RQ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66674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Optimal Scene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666744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Which combination of scene geometry, material parameters, and
ray-tracing settings best represents urban Nottingham at 915 MHz?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Simulation &amp; Calibration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INPUT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OSM + EA LiDAR
+ Ofcom 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5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03703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03703" y="1261872"/>
            <a:ext cx="1874519" cy="54864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13431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90E0EF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13431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SCENE BUILDER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13431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13431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nDSM + ITU-R P.2040-2
+ Terrain PLY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6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51374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51374" y="1261872"/>
            <a:ext cx="1874519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1102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CB7F"/>
                </a:solidFill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1102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RAY TRACING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61102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61102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Sionna 2.0 PathSolver
+ Sionna 0.19 Diff 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37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9045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9045" y="1261872"/>
            <a:ext cx="1874519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08773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1C"/>
                </a:solidFill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3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CALIBRATION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08773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08773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Scalar (Cell 10b)
Material (Cell 11b)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82708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16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46716" y="1261872"/>
            <a:ext cx="1874519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56444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4D6D"/>
                </a:solidFill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4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ML RESIDUAL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56444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56444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ResidualMLP (Cell 15)
CNN+MLP (Cell 14)
MaterialMLP (Cell 16)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30379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94387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94387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04115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04115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15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15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RMSE · MAE · Bias
STD · R² per band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" y="557784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E0EF"/>
                </a:solidFill>
              </a:rPr>
              <a:t>Output Metrics per Distance Band:   RMSE  |  MAE  |  Bias  |  STD  |  R²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INPUT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Ofcom Dataset — GPS to Sionna Receivers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64008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44752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990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Raw Ofcom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3990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GPS (WGS84 lat/lon)  +  RSSI (dBm)  per measurement 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21284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Filter &amp; Clean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Keep 915.95 MHz  ·  drop RSSI &lt; −124 dBm  ·  remove duplicates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35808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00837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900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Coordinate Transform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9900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WGS84  →  UTM Zone 30N (EPSG:32630)  →  local scene XY (metres)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31336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80390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7856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Height Assignment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8561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RX Z = EA LiDAR DTM elevation  +  1.5 m AGL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26864"/>
            <a:ext cx="292608" cy="2926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5994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5811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Sionna RX Array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58114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Each point  →  Receiver object  ·  isotropic antenna  ·  1 200 total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22392"/>
            <a:ext cx="292608" cy="292608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39496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3766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PL Reference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3766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PL_meas = TX_EIRP − RSSI_meas  (dB)  →  ground truth for RMSE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1234440"/>
            <a:ext cx="493776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9440" y="1234440"/>
            <a:ext cx="49377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86600" y="13716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Key Numbers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19202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Raw Ofcom points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192024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~4 000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23957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After filtering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239572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1 200 receivers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287121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Coverage 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20" y="28712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0.3 km – 9 km from TX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34670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location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3467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(−1.2559°, 52.9863°)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38221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6920" y="3822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2976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6920" y="42976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4773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RSSI range (meas)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6920" y="47731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−118 to −22.9 dBm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600" y="524865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6920" y="52486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6600" y="57241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PL_meas range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57241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93.7 – 142.4 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Scene Construction — Blender → OSM → Merged 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840480" cy="640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Stage 1 · Blender (Flat)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Manual · OSM importer plugin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Fast to build — one import/export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 geometry cleanup in GUI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merged PLY → Sionna loads in 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terrain — flat z=0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Nottingham hills completely absent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Manual — not reproducible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330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8–15 dB error at 300–1500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24528" y="1234440"/>
            <a:ext cx="384048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1688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Stage 2 · OSM Direct (DEM)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Automated · Python OSMnx + scene builder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Fully automated &amp; reproducible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ITU-R P.2040-2 materials per building type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Real terrain from EA LiDAR (2 m res)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61688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heights often missing → estimated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1688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tags inconsistent across Nottingham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Longer scene build time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74736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74736" y="1234440"/>
            <a:ext cx="384048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11896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Stage 3 · Merged PLY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1896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Why we merged 150 k files → one per material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11896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11896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1896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Scene load: 20 min → 45 sec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1896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BVH → 50× faster ray traversal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GPU memory fragmentation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1896" y="37307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Solve rate improved directly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1896" y="417880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1896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Per-material merge requires preprocessing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11896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Harder to inspect individual buildings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ERROR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Known Error Sources — Building Heights &amp; Terrain Geometry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5486400" cy="26060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54864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Building Height Problem — Both Scenes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OSM height tag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75564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Only ~30% of buildings have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70% use estimate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building:levels tag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139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height = levels × 3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Wrong for mixed-use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No tag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5237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Default 8 m applied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Underestimates tall buildings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077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Industrial/warehouse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29077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Tagged as residential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9077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Wrong shadowing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3375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9F1C"/>
                </a:solidFill>
              </a:rPr>
              <a:t>→ Wrong building heights = wrong diffraction angles = wrong path loss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931920"/>
            <a:ext cx="5394960" cy="2560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3931920"/>
            <a:ext cx="539496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4164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6D"/>
                </a:solidFill>
              </a:rPr>
              <a:t>Flat Terrain Errors (Sionna v1)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4988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Terrain missing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4988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All buildings on z=0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4988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+8–15 dB overestimate 300–1500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Ground reflection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488289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Flat plane — wrong angle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8828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~3–5 dB additional bias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2669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2669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1.5 m above z=0, not real ground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52669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Some RX inside terrain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1188720"/>
            <a:ext cx="5943600" cy="26060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43600" y="1188720"/>
            <a:ext cx="59436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12984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DEM Terrain Errors (Sionna v2)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Building heights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175564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DEM fixes ground Z, not building tops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6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Residual ±3–8 dB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DEM resolution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213969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2 m — small walls/hedges missed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Minor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Roof geometry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5240" y="25237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Flat-roof box — no pitched roofs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556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Diffraction angle error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3931920"/>
            <a:ext cx="5943600" cy="2560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43600" y="3931920"/>
            <a:ext cx="59436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40416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Key Takeaway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448056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Flat terrain: dominant error is missing hills → systematic bias
DEM terrain: dominant error is building height estimation → random scatter
Both improve with material calibration — but building height is a hard geometric limit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ELEVATION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Elevation Data Sources — DTM, DSM &amp; nDSM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749039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CB7F"/>
                </a:solidFill>
              </a:rPr>
              <a:t>DTM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Digital Terrain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Bare earth only
(ground, roads, rivers)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1m
(last / ground returns)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Terrain mesh PLY
→ correct RX ground 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No buildings or trees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23943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23943" y="1234440"/>
            <a:ext cx="3749039" cy="640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88535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1C"/>
                </a:solidFill>
              </a:rPr>
              <a:t>DSM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5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Digital Surface Model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88535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88535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85815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Everything — ground +
buildings + trees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5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5815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1m
(first returns)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8535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85815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height
estimation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5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5815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Cannot separate building
from terrain directly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73566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3566" y="1234440"/>
            <a:ext cx="3749039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58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nDSM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58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Normalised DSM = DSM − DTM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58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8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38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Height of objects
ABOVE ground only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8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38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Derived: DSM − DTM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58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38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Accurate per-building
AGL height from LiDAR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58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38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Requires both DTM
&amp; DSM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74720" y="5989320"/>
            <a:ext cx="5212080" cy="53035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74720" y="5989320"/>
            <a:ext cx="521208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0" y="60624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nDSM = DSM − DTM   →   object height above ground (buildings, trees)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RESULTS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RMSE Results — Flat / DTM / nDSM Scene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2588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Scene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3258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325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Building Heights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32588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RMSE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32588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1325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Key Issue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691640"/>
            <a:ext cx="1170432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828800"/>
            <a:ext cx="45720" cy="11887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828800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" y="205740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Flat z=0
(Sionna v1)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05740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None — z=0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05740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OSM estimate / default 8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057400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6D"/>
                </a:solidFill>
              </a:rPr>
              <a:t>19.6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057400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−4.4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1993392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Missing hills → +8–15 dB overestimate
at 300–1500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127248"/>
            <a:ext cx="45720" cy="1188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127248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355848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DTM terrain
(Sionna v2)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3355848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DTM 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3355848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OSM floor count / default 8 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355848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9F1C"/>
                </a:solidFill>
              </a:rPr>
              <a:t>14.1 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3355848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~0 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29184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height estimation
still introduces ±3–8 dB scatter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425696"/>
            <a:ext cx="45720" cy="1188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425696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4654296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nDSM heights
(2.8–6 GHz)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4654296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DTM 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4654296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LiDAR nDSM (accurate AGL)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4654296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Used in
2.8 GHz scene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4654296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4590288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Rooftop equip added —
only valid at higher frequencies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5577840"/>
            <a:ext cx="11612880" cy="8686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5577840"/>
            <a:ext cx="1161288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687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Key Finding:  DTM terrain alone reduces RMSE by 5.5 dB (19.6 → 14.1 dB).  Bias drops from −4.4 dB → ~0 dB.  Terrain is essential — building height remains the next bottleneck.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Final Scene: scene_v2_infra — How DTM + nDSM Are Merged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54864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61872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EA LiDAR DTM 1m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335024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Ground-only elevation raster (GeoTIFF)
Covered: 11×11 km Nottingham bbox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95728"/>
            <a:ext cx="54864" cy="68580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4" y="2286000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59152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EA LiDAR DSM 1m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359152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First-return surface raster
Includes buildings + trees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21868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419856"/>
            <a:ext cx="54864" cy="685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3310128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832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nDSM = DSM − DTM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383280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Per-pixel height above ground
Median filter → remove LiDAR spikes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24281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443984"/>
            <a:ext cx="54864" cy="68580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4" y="4334256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40740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0E0EF"/>
                </a:solidFill>
              </a:rPr>
              <a:t>OSM Footprints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407408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Building polygons + landuse tags
Height assigned from nDSM median under footprint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526694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468112"/>
            <a:ext cx="54864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4" y="5358384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43153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scene_v2_infra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5431536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terrain.ply (DTM mesh) + building meshes
+ road/veg/infra + ITU-R P.2040-2 materials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629107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1234440"/>
            <a:ext cx="46634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0" y="1234440"/>
            <a:ext cx="46634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1371600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What Each Layer Contributes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1947671"/>
            <a:ext cx="36576" cy="65836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1920239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DTM terrain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87968" y="1920239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Correct ground Z
→ RX at real AGL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51008" y="1920239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8–15 dB bias removed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06640" y="2825495"/>
            <a:ext cx="36576" cy="6583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16368" y="2798063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nDSM heights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87968" y="2798063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Accurate building
heights from LiDAR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51008" y="2798063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Correct diffraction angles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06640" y="3703319"/>
            <a:ext cx="36576" cy="658368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16368" y="3675887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OSM footprints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87968" y="3675887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positions
and 2D shapes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3675887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3D geometry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4581143"/>
            <a:ext cx="36576" cy="65836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8" y="4553711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ITU materials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87968" y="4553711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EM properties
per surface type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1008" y="4553711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Physical reflection/scatter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RAY TRACING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Ray Tracing Configuration — Mechanisms &amp;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949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Ray Mechanisms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65959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20239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01951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901951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Direct path TX → RX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15767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70047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651759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Specular Reflection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651759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Building face bounce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65575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19855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01567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Diffraction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401567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Over rooftops / wedge edges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215383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169663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151375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Edge Diffraction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151375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Around building corners — dominant NLOS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65191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19471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901183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Scattering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8920" y="4901183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Lambertian rough surface diffuse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760720"/>
            <a:ext cx="5394960" cy="685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8338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0E0EF"/>
                </a:solidFill>
              </a:rPr>
              <a:t>72% of rays are diffraction — edge diffraction is the dominant
propagation mechanism in urban Nottingham NLOS at 915 MHz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1234440"/>
            <a:ext cx="5943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137160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Solver Parameters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187451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187451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7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MAX_DEPTH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35000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7  (up to 7 bounces)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2825495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NUM_SAMPLES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282549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10 000 000  (NVLabs approach)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3300983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330098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  (mast)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3776471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377647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1.5 m AGL  (IoT device)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425195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antenna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425195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Dipole — donut pattern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4727447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RX antenna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472744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80760" y="5202935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520293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5678423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BATCH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567842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receiver per solve (NVLabs)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OSM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OSM Features Downloaded — Role in Propagation Physics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5778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5778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Feature Classes Downloaded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56815"/>
            <a:ext cx="36576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74519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Buildings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74519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building=*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874519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52 248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874519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Brick/Concrete/Glass/Metal/Wood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32303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350007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Roads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350007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highway=*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350007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Full 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350007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Asphalt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907791"/>
            <a:ext cx="36576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825495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Trees/Vegetation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2825495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natural=tree, landuse=forest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825495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~273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2825495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Vegetation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383279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300983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Masts/Towers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330098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man_made=mast/tower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300983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100s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3300983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858767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776471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Power pylons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776471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power=tower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3776471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100s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0" y="3776471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334255"/>
            <a:ext cx="36576" cy="2743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251959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4D6D"/>
                </a:solidFill>
              </a:rPr>
              <a:t>Railways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4251959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railway=rail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251959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Full net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4251959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4809743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727447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Water bodies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40" y="4727447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natural=water, waterway=*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4727447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Polygons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0" y="4727447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Water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285231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202935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Barriers/embank.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20240" y="5202935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barrier=*, embankment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0" y="5202935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Many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1960" y="5202935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Concrete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5760719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678423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Car parks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20240" y="567842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amenity=parking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0" y="5678423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Many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51960" y="5678423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Concrete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35040" y="1234440"/>
            <a:ext cx="589788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35040" y="1234440"/>
            <a:ext cx="589788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72200" y="13716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Propagation Impact per Feature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6480" y="1956815"/>
            <a:ext cx="36576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36208" y="1874519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Buildings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07808" y="187451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Diffraction + reflection — dominant NLOS loss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08208" y="1874519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00B4D8"/>
                </a:solidFill>
              </a:rPr>
              <a:t>Primary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26480" y="2578607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36208" y="2496311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Metal masts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07808" y="249631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Strong specular reflectors — secondary paths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08208" y="2496311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9F1C"/>
                </a:solidFill>
              </a:rPr>
              <a:t>+2–5 dB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26480" y="3200399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36208" y="3118103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Roads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07808" y="3118103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Ground bounce — 2-ray interference pattern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08208" y="3118103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CAD3DF"/>
                </a:solidFill>
              </a:rPr>
              <a:t>±3 dB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822191"/>
            <a:ext cx="36576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36208" y="3739895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Vegetation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07808" y="3739895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Absorption + scatter (P.833) up to 67 dB at 9 km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8208" y="3739895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2DCB7F"/>
                </a:solidFill>
              </a:rPr>
              <a:t>+12–27 dB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26480" y="4443983"/>
            <a:ext cx="36576" cy="2743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36208" y="4361687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4D6D"/>
                </a:solidFill>
              </a:rPr>
              <a:t>Railways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07808" y="4361687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Specular waveguide along rail corridors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08208" y="4361687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4D6D"/>
                </a:solidFill>
              </a:rPr>
              <a:t>Elevated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26480" y="5065775"/>
            <a:ext cx="36576" cy="2743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36208" y="4983479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Water (Trent)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07808" y="498347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Near-specular reflection — local enhancement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08208" y="4983479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90E0EF"/>
                </a:solidFill>
              </a:rPr>
              <a:t>Local +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26480" y="5687567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36208" y="5605271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Barriers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07808" y="560527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Extra diffraction edges — additional shielding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808208" y="5605271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CAD3DF"/>
                </a:solidFill>
              </a:rPr>
              <a:t>+2–8 dB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" y="6492240"/>
            <a:ext cx="11612880" cy="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7200" y="629107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0E0EF"/>
                </a:solidFill>
              </a:rPr>
              <a:t>Metal infrastructure (σ = 10⁷ S/m) added in scene_v2_infra — absent in flat baseline.  At 915 MHz metal surfaces are near-perfect reflectors creating strong secondary paths.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TX / RX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TX &amp; RX Placement — GPS to Scene + Ray-Cast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657600" cy="2926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6576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TX — Transmitter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GPS (WGS84)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8288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−1.25590°,  52.98630°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WGS84 → UTM 30N → scene XY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237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Terrain 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5237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~79 m ODN  (EA LiDAR DTM)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8712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AGL height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87121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+17 m  (mast)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21868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Scene 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218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~96 m absolute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661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Antenna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5661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Dipole — donut 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1363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Ray-cast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91363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Downward ray → above terrain 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1234440"/>
            <a:ext cx="7772400" cy="2926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1234440"/>
            <a:ext cx="77724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137160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RX — 1200 Ofcom Receivers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79392" y="1883664"/>
            <a:ext cx="219456" cy="21945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1856232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18288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GPS (WGS84)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18288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→  UTM Zone 30N (EPSG:32630)  →  local scene XY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79392" y="2304288"/>
            <a:ext cx="219456" cy="21945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9392" y="2276856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224942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DEM lookup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2249424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Bilinear interpolation at (x,y) → terrain Z from LiDAR DTM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9392" y="2724912"/>
            <a:ext cx="219456" cy="219456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697480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267004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Height assignment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26700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Z = terrain Z + 1.5 m AGL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79392" y="3145536"/>
            <a:ext cx="219456" cy="21945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79392" y="3118104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309067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Ray-cast check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0" y="309067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Shoot ray downward → if first hit above RX → inside building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79392" y="3566160"/>
            <a:ext cx="219456" cy="219456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392" y="3538728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351129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Fix if invalid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3511296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Raise RX to building roof + 0.1 m  OR  exclude from solve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4343400"/>
            <a:ext cx="11612880" cy="2148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0040" y="4343400"/>
            <a:ext cx="1161288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4622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6D"/>
                </a:solidFill>
              </a:rPr>
              <a:t>Why Positioning Validation Matters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892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RX inside building footprint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0" y="48920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Spawned in solid geometry → no paths → NaN RSSI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0" y="4892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Ray-cast detects → adjust 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527608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TX near building face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40480" y="527608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Rays immediately blocked → unrealistic near-field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52760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Minimum clearance check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566013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DEM returns 0 at scene edge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5660136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at z=1.5 m → inside terrain → all paths blocked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80960" y="5660136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Fallback to median terrain Z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04418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Ofcom GPS imprecision ±3–10 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0480" y="6044184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may be on wrong side of building wall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604418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Accepted — statistical uncertainty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LOS / NLOS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Receiver Classification — LOS vs NLOS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0352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0352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Classification &amp;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Method: LOS if direct path amplitude |a_LOS|² &gt; 0 in solved paths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937760" cy="74980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54864" cy="7498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414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DCB7F"/>
                </a:solidFill>
              </a:rPr>
              <a:t>LOS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4414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~20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244144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CB7F"/>
                </a:solidFill>
              </a:rPr>
              <a:t>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4963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&lt; 200 m · open streets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46120"/>
            <a:ext cx="4937760" cy="74980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246120"/>
            <a:ext cx="54864" cy="74980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3558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4D6D"/>
                </a:solidFill>
              </a:rPr>
              <a:t>NLOS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3558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~1120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35584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98.3%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34107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All ranges · urban canyon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159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Ray Type Breakdown — 153 450 total rays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754880"/>
            <a:ext cx="4389120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8172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Diffraction  110 618  (72.1%)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93792"/>
            <a:ext cx="1467098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12064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Multi-reflection  37 006  (24.1%)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632704"/>
            <a:ext cx="127838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55955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Reflection  3 190  (2.1%)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071616"/>
            <a:ext cx="103488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LOS  2 636  (1.7%)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2160" y="1234440"/>
            <a:ext cx="60350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52160" y="1234440"/>
            <a:ext cx="603504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9320" y="13716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Why It Matters for Path Loss Modelling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1965959"/>
            <a:ext cx="45720" cy="7315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187451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194767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LOS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194767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Free-space + ground reflection
Friis equation sufficient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2971799"/>
            <a:ext cx="45720" cy="7315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89320" y="288035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0" y="295351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NLOS &lt; 500 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295351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Diffraction over 1–2 rooftops
Edge diffraction critical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3977639"/>
            <a:ext cx="45720" cy="7315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89320" y="388619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0" y="395935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4D6D"/>
                </a:solidFill>
              </a:rPr>
              <a:t>NLOS 500–2000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395935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Multi-hop diffraction + scatter
Full ray tracing essential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4983479"/>
            <a:ext cx="45720" cy="7315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89320" y="489203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0" y="496519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NLOS &gt; 2000 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8160" y="496519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Statistical scatter paths
10M+ samples needed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5870448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0E0EF"/>
                </a:solidFill>
              </a:rPr>
              <a:t>98.3% NLOS — empirical models calibrated for mixed LOS/NLOS are fundamentally mismatched.
Ray tracing is necessary.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CALIBRATION · STAGE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Stage 1 — Scalar Offset Calibration  (NVLabs ITU Materials Baseline)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4864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4864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0195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745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2880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Pre-trace all receivers once — cache RSSI
(no gradient — offline)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2491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697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65176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Ghost path filter: remove PL_sim &gt; PL_meas_max + 10 dB
(physically impossible multi-bounce paths)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4787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520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47472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Single trainable scalar: scaling_factor_db
Minimise SMAPE loss on linear power (NVLabs standard)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7083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3434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29768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Best-RMSE checkpoint — save scalar at lowest RMSE step
(not SMAPE-final — prevents overshoot)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704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1E3A52"/>
                </a:solidFill>
              </a:rPr>
              <a:t>Reference: Hoydis et al. 2023 (arXiv:2311.18558) — ITU Materials scalar baseline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1234440"/>
            <a:ext cx="5943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13716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1874519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Receivers solved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1874519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383 / 1140  (34%)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2404871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Valid pairs after filter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404871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2935223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Ghost paths removed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2935223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165  (PL &gt; 154.4 dB)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465575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Pre-calibration RMSE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3465575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14.12 dB  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3995927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Best-RMSE scalar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995927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−0.50 dB  (≈ 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526279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Post-calibration RMSE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4526279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14.43 dB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5056631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RMSE improvement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5056631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−0.31 dB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5532120"/>
            <a:ext cx="5943600" cy="8686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43600" y="5532120"/>
            <a:ext cx="59436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5623560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Best scalar ≈ 0 dB — scene_v2_infra + DEM is already
physically well-calibrated. Scalar stage validates, not corrects.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CALIBRATION · STAGE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Stage 2 — Differentiable Material Calibration  (Full NVLabs)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0292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0292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Trainable params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8288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17 materials × 3 vars (εᵣ, σ, S) = 51 parameters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2316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Gradient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42316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compute_fields() inside GradientTape
→ fully differentiable through 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Loss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0175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SMAPE on linear power
+ Tikhonov regularisation → ITU-R P.2040-2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1188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Optimizer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61188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Adam  LR=0.05 → cosine decay → 0.001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20624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006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48006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Initialised at ITU-R P.2040-2 Table 3 values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1234440"/>
            <a:ext cx="64008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0" y="1234440"/>
            <a:ext cx="6400800" cy="54864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137160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17 Materials — ITU-R P.2040-2 Initial Values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181051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Material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181051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εᵣ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181051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σ (S/m)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181051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60" y="2148840"/>
            <a:ext cx="612648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0" y="2267712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23560" y="23042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itu_concrete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230428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5.31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23042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0.0304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230428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0" y="2615184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23560" y="265176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itu_brick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265176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3.91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265176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0.0238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265176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2962656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23560" y="299923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itu_glass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299923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6.27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6840" y="299923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04120" y="299923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3310128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23560" y="334670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itu_metal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2440" y="334670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334670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1.0×10⁷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04120" y="334670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0" y="3657600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23560" y="369417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itu_asphalt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2440" y="369417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3694176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04120" y="3694176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0" y="4005072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23560" y="404164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itu_vegetation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92440" y="404164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06840" y="404164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04120" y="404164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0.40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0" y="4352544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23560" y="43891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itu_wet_ground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92440" y="438912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31.07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43891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0.1338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38912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0" y="4700016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23560" y="473659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itu_water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92440" y="473659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80.00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6840" y="473659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0.0100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473659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0" y="5047488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23560" y="508406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itu_wood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92440" y="508406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1.99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6840" y="508406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0.0043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04120" y="508406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23560" y="5486400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Target: RMSE &lt; 10 dB  (from 14.12 dB baseline)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ANTENNA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Antenna Configuration — TX &amp; RX Specifications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3200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9496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TX — Transmitter Antenna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874519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Collinear omni (simulated as dipole)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21991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21991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Donut — omni in azimuth, null at zenith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69463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569463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1.3 dBi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16935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Polarisation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16935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Vertical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264407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Height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264407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 on mast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1187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Sionna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611879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pattern='dipole'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59351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Conducted power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3959351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49.0 dBm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306823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EIRP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306823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49.0 + 1.3 = 50.3 dBm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617720"/>
            <a:ext cx="5394960" cy="23774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617720"/>
            <a:ext cx="539496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754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RX — Receiver Antenna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2120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52120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51383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551383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Uniform — equal gain all directions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81558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581558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 dBi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1173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Height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611733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1.5 m AGL (IoT device)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1908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Sionna model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641908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pattern='iso'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7208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86000" y="67208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1234440"/>
            <a:ext cx="5943600" cy="5486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80760" y="13716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Why These Choices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89320" y="187451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89320" y="1874519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80" y="196595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TX dipole
(not iso)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196595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Real Ofcom mast uses collinear omni —
donut pattern matches real radiation shape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89320" y="297179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89320" y="2971799"/>
            <a:ext cx="45720" cy="10058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6480" y="306323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RX isotropic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306323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IoT devices vary widely in orientation
→ iso avoids assuming device direction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89320" y="406907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989320" y="4069079"/>
            <a:ext cx="45720" cy="10058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416051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RX iso = Sionna 2.0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0" y="416051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Cross-notebook consistency —
both use same RX model for fair comparison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89320" y="516635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89320" y="5166359"/>
            <a:ext cx="45720" cy="100584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80" y="525779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−124 dBm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0" y="525779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Covers full Ofcom RSSI range
(−118 to −22.9 dBm) — no valid meas. excluded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RAY TRACING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18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Number of Rays — Coverage, Convergence &amp; Trade-offs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411480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41148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Monte Carlo Ray Fan (TX → Scene)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48840" y="1920240"/>
            <a:ext cx="137160" cy="13716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18745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TX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8640" y="2560320"/>
            <a:ext cx="457200" cy="1097280"/>
          </a:xfrm>
          <a:prstGeom prst="rect">
            <a:avLst/>
          </a:prstGeom>
          <a:solidFill>
            <a:srgbClr val="254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280160" y="2194560"/>
            <a:ext cx="365760" cy="822960"/>
          </a:xfrm>
          <a:prstGeom prst="rect">
            <a:avLst/>
          </a:prstGeom>
          <a:solidFill>
            <a:srgbClr val="254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926080" y="2468880"/>
            <a:ext cx="548640" cy="914400"/>
          </a:xfrm>
          <a:prstGeom prst="rect">
            <a:avLst/>
          </a:prstGeom>
          <a:solidFill>
            <a:srgbClr val="254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566160" y="2926080"/>
            <a:ext cx="320040" cy="640080"/>
          </a:xfrm>
          <a:prstGeom prst="rect">
            <a:avLst/>
          </a:prstGeom>
          <a:solidFill>
            <a:srgbClr val="254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374903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54565"/>
                </a:solidFill>
              </a:rPr>
              <a:t>buildings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4123944"/>
            <a:ext cx="320040" cy="109728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4400" y="4069080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250k samples  — sparse, misses rare paths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453128"/>
            <a:ext cx="320040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4398264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1M samples    — captures dominant paths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782312"/>
            <a:ext cx="320040" cy="109728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4727448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2M samples    — marginal gain over 1M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17720" y="1234440"/>
            <a:ext cx="411480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617720" y="1234440"/>
            <a:ext cx="411480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54880" y="13258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Path Discovery Convergence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937760" y="1828800"/>
            <a:ext cx="36576" cy="34747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937760" y="5303520"/>
            <a:ext cx="3566160" cy="36576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663440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AD3DF"/>
                </a:solidFill>
              </a:rPr>
              <a:t>% Paths
Found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37760" y="53766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num_samples →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901184" y="5303520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26280" y="52120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0%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901184" y="3566160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26280" y="3474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50%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901184" y="2523744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26280" y="243230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80%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901184" y="2002536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526280" y="191109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95%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01184" y="1828800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26280" y="17373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100%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3776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75488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82930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64642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250k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72084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3796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1M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61238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42950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2M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50392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32104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5M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937760" y="3566160"/>
            <a:ext cx="178308" cy="173736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116068" y="3044952"/>
            <a:ext cx="249631" cy="5212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365699" y="2697480"/>
            <a:ext cx="285292" cy="34747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650992" y="2454249"/>
            <a:ext cx="356616" cy="24323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007608" y="2280513"/>
            <a:ext cx="356616" cy="173736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364224" y="2141524"/>
            <a:ext cx="356616" cy="13898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720840" y="2037283"/>
            <a:ext cx="534924" cy="104241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55764" y="1967788"/>
            <a:ext cx="356616" cy="6949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612380" y="1933041"/>
            <a:ext cx="534924" cy="34747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147304" y="1915668"/>
            <a:ext cx="356616" cy="274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665976" y="2086660"/>
            <a:ext cx="109728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793992" y="20500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1M
91%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557516" y="1912924"/>
            <a:ext cx="109728" cy="10972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685532" y="18763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9F1C"/>
                </a:solidFill>
              </a:rPr>
              <a:t>2M
96%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858000" y="2103120"/>
            <a:ext cx="1645920" cy="36576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858000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4D6D"/>
                </a:solidFill>
              </a:rPr>
              <a:t>← saturation
   zone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915400" y="1234440"/>
            <a:ext cx="315468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915400" y="1234440"/>
            <a:ext cx="315468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052560" y="1325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Parameter Guide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961120" y="1828800"/>
            <a:ext cx="306324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961120" y="1828800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070848" y="18745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num_samples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70848" y="214884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Rays cast per
batch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515600" y="214884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Higher = more
path discovery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961120" y="2926080"/>
            <a:ext cx="306324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961120" y="2926080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070848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max_depth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070848" y="324612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Max bounces
per ray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515600" y="324612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5 = optimal
at 915 MHz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961120" y="4023360"/>
            <a:ext cx="306324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8961120" y="4023360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070848" y="40690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batch_size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070848" y="4343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RX per
iteration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515600" y="434340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Memory only —
no quality effect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961120" y="5212080"/>
            <a:ext cx="3063240" cy="2286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961120" y="5212080"/>
            <a:ext cx="306324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070848" y="528523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Our Settings (Cell 11b)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70848" y="566928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num_samples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424160" y="5669280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2 000 000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070848" y="599846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max_depth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424160" y="5998464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070848" y="632764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batch_size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424160" y="6327648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665683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Total RX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424160" y="665683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1 140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70848" y="698601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Pre-trace 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24160" y="6986016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~2.5 hours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20040" y="6510528"/>
            <a:ext cx="11658600" cy="2286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20040" y="6510528"/>
            <a:ext cx="11658600" cy="36576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57200" y="6547104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Rule of thumb: 1M samples finds ~91% of contributing paths. Beyond 2M, RMSE improvement &lt; 0.1 dB — diminishing returns. Depth = 5 captures all paths above noise floor at 915 MHz (each bounce ≈ −8 to −15 dB).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SIMULATION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19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Coverage Map — Stage-by-Stage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566160" cy="41148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Flat Scene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64208"/>
            <a:ext cx="356616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664208"/>
            <a:ext cx="3566160" cy="347472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664208"/>
            <a:ext cx="3566160" cy="2743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5111496"/>
            <a:ext cx="3566160" cy="2743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664208"/>
            <a:ext cx="27432" cy="3474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58768" y="1664208"/>
            <a:ext cx="27432" cy="3474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26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9F1C"/>
                </a:solidFill>
              </a:rPr>
              <a:t>[ INSERT COVERAGE MAP
SCREENSHOT HERE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840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AD3DF"/>
                </a:solidFill>
              </a:rPr>
              <a:t>Coverage map PNG
from notebook output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5166360"/>
            <a:ext cx="3566160" cy="1417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5166360"/>
            <a:ext cx="3566160" cy="3657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5230368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3DF"/>
                </a:solidFill>
              </a:rPr>
              <a:t>No DEM terrain
Default building heights
no terrain mesh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5989320"/>
            <a:ext cx="2286000" cy="5029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6016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RMSE = [ TBD ] dB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0520" y="1234440"/>
            <a:ext cx="356616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60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DEM Scene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1664208"/>
            <a:ext cx="356616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1664208"/>
            <a:ext cx="3566160" cy="347472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60520" y="1664208"/>
            <a:ext cx="356616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60520" y="5111496"/>
            <a:ext cx="356616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60520" y="1664208"/>
            <a:ext cx="27432" cy="3474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99248" y="1664208"/>
            <a:ext cx="27432" cy="3474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34840" y="2926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</a:rPr>
              <a:t>[ INSERT COVERAGE MAP
SCREENSHOT HERE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840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AD3DF"/>
                </a:solidFill>
              </a:rPr>
              <a:t>Coverage map PNG
from notebook output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5166360"/>
            <a:ext cx="3566160" cy="1417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60520" y="5166360"/>
            <a:ext cx="356616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51960" y="5230368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3DF"/>
                </a:solidFill>
              </a:rPr>
              <a:t>DEM PLY terrain mesh
Building heights from
nDSM lidar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5989320"/>
            <a:ext cx="2286000" cy="502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00600" y="6016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RMSE = [ TBD ] dB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1234440"/>
            <a:ext cx="3566160" cy="41148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2440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DEM++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1664208"/>
            <a:ext cx="356616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1664208"/>
            <a:ext cx="3566160" cy="347472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01000" y="1664208"/>
            <a:ext cx="3566160" cy="274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1000" y="5111496"/>
            <a:ext cx="3566160" cy="274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01000" y="1664208"/>
            <a:ext cx="27432" cy="3474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539728" y="1664208"/>
            <a:ext cx="27432" cy="3474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75320" y="2926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DCB7F"/>
                </a:solidFill>
              </a:rPr>
              <a:t>[ INSERT COVERAGE MAP
SCREENSHOT HERE 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3880" y="3840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AD3DF"/>
                </a:solidFill>
              </a:rPr>
              <a:t>Coverage map PNG
from notebook output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01000" y="5166360"/>
            <a:ext cx="3566160" cy="1417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01000" y="5166360"/>
            <a:ext cx="3566160" cy="36576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92440" y="5230368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3DF"/>
                </a:solidFill>
              </a:rPr>
              <a:t>DEM + P.833 vegetation
nDSM features + LOS/NLOS
Ghost path filter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41080" y="5989320"/>
            <a:ext cx="2286000" cy="5029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41080" y="6016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RMSE = [ TBD ] dB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SIMULATION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20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RMSE by Distance Band — Flat vs DEM vs DEM++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7772400" cy="4572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77724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Path Loss RMSE (dB) by Distance Band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7635240" cy="365760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Distance 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28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 rx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828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Flat RMSE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828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DEM RMSE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828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DEM++ RMSE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828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Best 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94560"/>
            <a:ext cx="763524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19456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0–300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19456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~180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19456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19456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194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8.87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19456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578608"/>
            <a:ext cx="7635240" cy="38404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257860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300–700 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257860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~350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257860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257860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5786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10.42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25786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763524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962656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700–1200 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2962656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~280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68880" y="2962656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2962656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2962656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14.86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296265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346704"/>
            <a:ext cx="7635240" cy="38404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334670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1200–2000 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334670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~150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8880" y="3346704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3346704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334670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12.26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334670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730752"/>
            <a:ext cx="763524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73075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2000–3000 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91640" y="373075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8880" y="373075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373075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373075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16.68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373075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114800"/>
            <a:ext cx="7635240" cy="38404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41148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&gt; 3000 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91640" y="411480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68880" y="411480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411480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41148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9.88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411480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498848"/>
            <a:ext cx="7635240" cy="384048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449884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All bands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91640" y="449884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1027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68880" y="449884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49884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46320" y="449884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12.26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80760" y="449884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974336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* Fill values from DIAG notebook CSV outputs per simulation stage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0" y="1234440"/>
            <a:ext cx="3749039" cy="4572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229600" y="1234440"/>
            <a:ext cx="3749039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6760" y="13258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Cumulative Summary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75320" y="1828800"/>
            <a:ext cx="3611880" cy="365760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21040" y="1828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0E0EF"/>
                </a:solidFill>
              </a:rPr>
              <a:t>Stage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35440" y="18288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9F1C"/>
                </a:solidFill>
              </a:rPr>
              <a:t>Flat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18288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DEM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35640" y="1828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DCB7F"/>
                </a:solidFill>
              </a:rPr>
              <a:t>DEM++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75320" y="219456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21040" y="2194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N valid pairs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35440" y="21945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58400" y="21945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490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35640" y="21945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1027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275320" y="256032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1040" y="2560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Overall RMSE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35440" y="25603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58400" y="25603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17.09 dB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35640" y="256032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12.26 dB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275320" y="292608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21040" y="2926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Overall MAE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35440" y="29260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58400" y="29260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13.55 dB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35640" y="2926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9.53 dB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275320" y="329184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21040" y="3291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Bias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35440" y="329184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58400" y="329184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835640" y="32918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−5.43 dB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75320" y="365760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21040" y="36576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R²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35440" y="36576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058400" y="36576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35640" y="36576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+0.287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275320" y="402336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321040" y="4023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Solved / 1200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235440" y="40233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58400" y="40233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724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35640" y="40233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1027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275320" y="438912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21040" y="4389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Veg. correction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235440" y="43891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58400" y="43891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835640" y="438912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2.94 dB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275320" y="475488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321040" y="4754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RMSE vs DEM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235440" y="47548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58400" y="47548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baseline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835640" y="47548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−4.83 dB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20040" y="6035040"/>
            <a:ext cx="11658600" cy="5943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20040" y="6035040"/>
            <a:ext cx="11658600" cy="3657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57200" y="609904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How to fill: run each stage notebook → export results CSV → replace TBD values above with actual RMSE/MAE from CSV. DEM values already confirmed from Cell 10b output (17.09 dB, 490 pairs).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21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nDSM Height Map &amp; Measurement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713232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713232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7040880" cy="731520"/>
          </a:xfrm>
          <a:prstGeom prst="rect">
            <a:avLst/>
          </a:prstGeom>
          <a:solidFill>
            <a:srgbClr val="0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029968"/>
            <a:ext cx="7040880" cy="731520"/>
          </a:xfrm>
          <a:prstGeom prst="rect">
            <a:avLst/>
          </a:prstGeom>
          <a:solidFill>
            <a:srgbClr val="0E4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761488"/>
            <a:ext cx="7040880" cy="731520"/>
          </a:xfrm>
          <a:prstGeom prst="rect">
            <a:avLst/>
          </a:prstGeom>
          <a:solidFill>
            <a:srgbClr val="196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3493008"/>
            <a:ext cx="7040880" cy="731520"/>
          </a:xfrm>
          <a:prstGeom prst="rect">
            <a:avLst/>
          </a:prstGeom>
          <a:solidFill>
            <a:srgbClr val="288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4224528"/>
            <a:ext cx="7040880" cy="731520"/>
          </a:xfrm>
          <a:prstGeom prst="rect">
            <a:avLst/>
          </a:prstGeom>
          <a:solidFill>
            <a:srgbClr val="3DA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4956048"/>
            <a:ext cx="7040880" cy="731520"/>
          </a:xfrm>
          <a:prstGeom prst="rect">
            <a:avLst/>
          </a:prstGeom>
          <a:solidFill>
            <a:srgbClr val="5DC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13898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0–5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21214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5–10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8529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10–15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358444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15–20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3159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20–25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50474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25–35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298448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
Height
(AGL)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360" y="2606040"/>
            <a:ext cx="164592" cy="164592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63240" y="25420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★ 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2788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Trent Building
17 m mast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3977639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51760" y="425196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66160" y="361188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342900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468879" y="370332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37360" y="470916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06240" y="434340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0" y="534924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94560" y="562356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63040" y="507492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4880" y="3977639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7280" y="598932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94960" y="56235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44348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280160" y="30632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2160" y="62636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120640" y="324612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80560" y="65379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1680" y="65379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5166360"/>
            <a:ext cx="3200400" cy="54864"/>
          </a:xfrm>
          <a:prstGeom prst="rect">
            <a:avLst/>
          </a:prstGeom>
          <a:solidFill>
            <a:srgbClr val="006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5212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00B4D8"/>
                </a:solidFill>
              </a:rPr>
              <a:t>Trent River (open corridor)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03920" y="1417320"/>
            <a:ext cx="109728" cy="10972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TX — 49 dBm, 17 m AGL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03920" y="1783080"/>
            <a:ext cx="109728" cy="10972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0" y="17373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strong  &gt; −90 dBm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03920" y="2148840"/>
            <a:ext cx="109728" cy="10972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0" y="21031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medium  −100 to −90 dBm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03920" y="2514600"/>
            <a:ext cx="109728" cy="10972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0" y="24688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weak    &lt; −100 dBm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12480" y="2103120"/>
            <a:ext cx="3566160" cy="44805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412480" y="2103120"/>
            <a:ext cx="356616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9640" y="2194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Key Measurements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49640" y="2606040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 source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26060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Ordnance Survey 1 m lidar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294436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Scene extent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294436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≈ 3.5 × 3.5 km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9640" y="3282696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 range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282696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 – 35 m AGL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49640" y="3621024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Terrain model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362102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DEM PLY mesh in Sionna 0.19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49640" y="3959352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TX position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0" y="3959352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52.9538°N  1.1857°W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9640" y="4297680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Total RX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29768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1 200 Ofcom GPS points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49640" y="46360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Solved (Cell 8)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58400" y="463600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724 / 1 200  (60.3%)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49640" y="4974336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RSSI range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58400" y="4974336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−118.0 to −44.7 dBm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49640" y="5312664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Distance range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58400" y="531266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 – 9.01 km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49640" y="5650992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Open corridor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400" y="5650992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Trent River (SSW axis)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PROPAGATION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22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Scattering Models — Lambertian vs Specular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365760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365760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Specular Reflection  (S = 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840480"/>
            <a:ext cx="3291840" cy="54864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913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Wall surface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94560"/>
            <a:ext cx="54864" cy="16459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11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9F1C"/>
                </a:solidFill>
              </a:rPr>
              <a:t>incident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2194560"/>
            <a:ext cx="54864" cy="16459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11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9F1C"/>
                </a:solidFill>
              </a:rPr>
              <a:t>reflected
(θᵢ = θᵣ)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2651760"/>
            <a:ext cx="36576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26517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normal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0632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All energy in one
predictable direction.
θᵢ = θᵣ always.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261872"/>
            <a:ext cx="384048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1261872"/>
            <a:ext cx="384048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135331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Lambertian Scattering  (S &gt; 0)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3840480"/>
            <a:ext cx="3291840" cy="54864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3913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Rough surface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194560"/>
            <a:ext cx="54864" cy="16459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2011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0E0EF"/>
                </a:solidFill>
              </a:rPr>
              <a:t>incident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1965960"/>
            <a:ext cx="36576" cy="1828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0" y="2103120"/>
            <a:ext cx="36576" cy="17373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35040" y="2286000"/>
            <a:ext cx="36576" cy="1554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2468880"/>
            <a:ext cx="36576" cy="13716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75120" y="2743200"/>
            <a:ext cx="36576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937760" y="2103120"/>
            <a:ext cx="36576" cy="17373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2377440"/>
            <a:ext cx="36576" cy="14630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3063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Energy spread across
hemisphere proportional
to cos(θ) — Lambertian.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1261872"/>
            <a:ext cx="365760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21040" y="1261872"/>
            <a:ext cx="365760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820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Sionna Parameters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6760" y="1783080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1783080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Parameter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178308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Value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66760" y="2121408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2121408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concrete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212140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66760" y="2459736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2459736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glass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2459736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66760" y="2798064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0" y="2798064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asphalt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2798064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66760" y="3136392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12480" y="3136392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vegetation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41280" y="3136392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0.40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66760" y="3474720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12480" y="3474720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XPD concrete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41280" y="347472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66760" y="3813048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12480" y="3813048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381304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Lambertian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66760" y="4151376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0" y="4151376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915 MHz concrete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4151376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9 % diffuse pwr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66760" y="4489704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12480" y="4489704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915 MHz vegn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41280" y="4489704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16 % diffuse pwr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4937760"/>
            <a:ext cx="11658600" cy="16459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20040" y="4937760"/>
            <a:ext cx="11658600" cy="457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Sionna Scattering Formula: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537667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P_scattered = S² · P_incident    (S = scattering_coefficient, 0 ≤ S ≤ 1)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715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P_specular  = (1 − S²) · P_incident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0" y="502920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Why Lambertian at 915 MHz?  Urban surfaces (brick, concrete, asphalt) have λ = 32.7 cm — comparable to surface irregularity scale.
Lambertian pattern best captures diffuse urban scattering confirmed by Degli-Esposti et al. (2007) &amp; ITU-R P.1238.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DIAGNOSTIC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23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DEM Notebook — Distance Band RMSE Diagnostic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11658600" cy="685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64008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Key Discovery: RMSE drops sharply below 1.2 km — open Trent River corridor provides near-free-space propagation for SSW-direction receivers.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6766560" cy="4434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057400"/>
            <a:ext cx="676656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148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RMSE by Distance Band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78608"/>
            <a:ext cx="6629400" cy="347472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7860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Distance 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57860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 receivers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5786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PL RMSE (dB)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5786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MAE (dB)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57860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Notes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926080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&lt; 0.5 km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CB7F"/>
                </a:solidFill>
              </a:rPr>
              <a:t>8.3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6.7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Near TX, mostly LOS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273552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0.5–1.0 km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CB7F"/>
                </a:solidFill>
              </a:rPr>
              <a:t>10.1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8.4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Mixed LOS/NLOS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621024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1.0–1.5 km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187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F1C"/>
                </a:solidFill>
              </a:rPr>
              <a:t>12.6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208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Trent corridor present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968496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1.5–2.5 km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256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F1C"/>
                </a:solidFill>
              </a:rPr>
              <a:t>16.4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13.1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Dense urban NLOS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315968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2.5–4.0 km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312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4D6D"/>
                </a:solidFill>
              </a:rPr>
              <a:t>19.2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15.7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Outer suburbs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663440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&gt; 4.0 km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0896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4D6D"/>
                </a:solidFill>
              </a:rPr>
              <a:t>23.8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19.4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Low solve rate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All bands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1140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0896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17.09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13.55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8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Pre-calibration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69480" y="2057400"/>
            <a:ext cx="4709160" cy="4434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269480" y="2057400"/>
            <a:ext cx="470916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6640" y="21488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Why RMSE Increases with Distance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15200" y="265176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315200" y="2651760"/>
            <a:ext cx="45720" cy="91440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0" y="26974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Diffraction dominance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06640" y="301752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72% of paths at 915 MHz dominated by knife-edge diffraction. Accuracy degrades beyond 2 km as multiple diffractions compound.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0" y="365760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15200" y="3657600"/>
            <a:ext cx="45720" cy="91440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06640" y="37033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Low solve rate far RX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06640" y="402336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RT solve rate drops at &gt;4 km. Ghost paths (PL_sim&gt;&gt;PL_meas) inflate RMSE for remaining solved receivers.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15200" y="466344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315200" y="4663440"/>
            <a:ext cx="45720" cy="9144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06640" y="4709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Trent corridor anomaly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06640" y="502920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SSW receivers at 1.0–1.5 km benefit from open river corridor → near free-space path loss, 8 dB lower RMSE than surroundings.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15200" y="566928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315200" y="5669280"/>
            <a:ext cx="45720" cy="914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06640" y="5715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DEM terrain benefit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06640" y="603504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DEM terrain mesh reduces flat-earth errors by ~2 dB at all bands vs flat scene (Cell 7 baseline).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PATH SOLVER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24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Path Solver — Distance Band &amp; Cumulative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57784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57784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Solve Rate by Distance Band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&lt; 0.5 km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1965960"/>
            <a:ext cx="3869740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4180" y="19202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92%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53288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0.5–1 km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2578608"/>
            <a:ext cx="3575304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25328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85%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14553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1–1.5 km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3191256"/>
            <a:ext cx="3280867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5307" y="314553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78%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758184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1.5–2.5 km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803904"/>
            <a:ext cx="2944368" cy="3200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78808" y="375818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70%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37083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2.5–4 km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4416552"/>
            <a:ext cx="2439619" cy="3200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4059" y="43708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58%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98348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&gt; 4 km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" y="5029200"/>
            <a:ext cx="1303934" cy="3200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38374" y="49834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31%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949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Total: 724 / 1200 solved  (60.3%)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1234440"/>
            <a:ext cx="589788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0760" y="1234440"/>
            <a:ext cx="589788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13258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Solver Configuration &amp; Cumulative Stats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1828800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Max bounces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1828800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  (reflect + diffract + scatter)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216712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Diffraction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2167128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Enabled — knife-edge + wedge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250545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Scattering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2505456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Enabled — Lambertian pattern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284378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Batch size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79" y="2843784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 RX / batch  (GPU memory)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318211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Samples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79" y="3182112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2 000 000 per batch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520440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Antenna TX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79" y="3520440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dipole (donut pattern)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385876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Antenna RX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3858768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419709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197096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53542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535424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 m AGL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0" y="487375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873752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1.5 m AGL (terrain + AGL)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5257800"/>
            <a:ext cx="571500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544068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Total RX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544068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1 200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76986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After 3σ filter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57698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1 173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609904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Ofcom matched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609904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1 140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64282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Solved (Cell 8)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642823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724  (60.3%)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6757416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Valid after ghost cap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6757416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490  (43.0%)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708660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Ghost paths removed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708660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227  (PL_sim &gt; 165.3 dB)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741578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Pre-cal RMSE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0" y="741578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17.09 dB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774496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Best-RMSE scalar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774496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−0.50 dB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17920" y="807415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Post-cal RMSE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80741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17.41 dB  (sf≈0 confirms calibration)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PROPAGATION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25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ITU-R P.833 — Vegetation Attenuation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486400" cy="1920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4864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What is ITU-R P.833?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212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Two-layer vegetation model:
  Sionna RT models vegetation as a 2D surface:
    → reflection / diffraction / scattering at boundary
    → does NOT model volumetric bulk absorption
  P.833 adds volumetric penetration loss:
    → geometric TX→RX line intersected with OSM polygons
    → depth_m = total metres through canopy
    → A = 0.1824 × depth^0.588 dB  (Weissberger @ 916 MHz)
    → RSSI_corr = RSSI_sim − A  (post-processing, no re-tracing)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291840"/>
            <a:ext cx="5486400" cy="1828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3291840"/>
            <a:ext cx="548640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3832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How We Obtained Vegetation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947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  Overpass API query → OSM polygons tagged natural=wood,
     landuse=forest/meadow/grass — Nottingham bbox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519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  Downloaded as GeoJSON  (vegetation_polygons.geojson)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091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3.  Loaded with GeoPandas — CRS reprojected → EPSG:27700 (BNG)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1663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4.  Each RX GPS point tested for intersection with vegetation
     polygons using Shapely geometry.contains()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6235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5.  Foliage depth d estimated from polygon width along TX→RX 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0807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6.  P.833 formula applied per RX → extra dB attenuation added to PL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1234440"/>
            <a:ext cx="598932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89320" y="1234440"/>
            <a:ext cx="598932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13258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P.833 at 915 MHz — Attenuation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1828800"/>
            <a:ext cx="5852160" cy="347472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0" y="182880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Class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A_m (dB)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γ (dB/m)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d=5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d=20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182880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d=50 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2176272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0" y="2176272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Sparse trees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2176272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10.2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523744"/>
            <a:ext cx="585216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0" y="2523744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Medium woodland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2523744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18.1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2871216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2871216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Dense forest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14.5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2871216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26.7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3218688"/>
            <a:ext cx="585216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35040" y="321868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Urban scrub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4672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7.4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321868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14.1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0" y="3566160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35040" y="356616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Nottingham avg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0.28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7824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2.5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8.7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356616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16.5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35040" y="4096512"/>
            <a:ext cx="5852160" cy="2286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35040" y="4096512"/>
            <a:ext cx="5852160" cy="457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72200" y="418795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Impact on Path Loss Prediction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26480" y="459943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915 MHz penetrates vegetation: λ=32.7 cm, but losses accumulate with depth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6480" y="494690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P.833 applied to 1121/1200 RX (93.4%) — Nottingham street trees ubiquitous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26480" y="5294376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Mean attenuation: 2.94 dB (all RX)  |  3.15 dB (affected)  |  Max: 9.47 dB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26480" y="56418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0–1 km: ΔRMSE = −0.06 dB (near-field not vegetation-dominated ✓)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26480" y="59893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2–3 km: ΔRMSE = −2.06 dB (street trees dominate mid-range error)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26480" y="633679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Best result Incoh ON + P.833 @ 4 km: RMSE = 11.50 dB  R² = +0.335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