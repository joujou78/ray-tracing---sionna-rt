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Ray Tracing for Path Loss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688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90E0EF"/>
                </a:solidFill>
              </a:rPr>
              <a:t>in Urban Environments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502920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Scene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4290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Nottingham · Ofcom 2018 Drive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130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81304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915.95 MHz  (IoT / LoRaWAN band)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970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19709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Sionna RT 2.0  +  Sionna 0.19 Differentiable 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81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58114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Minimise RMSE against 1 200 real Ofcom measurements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097280"/>
            <a:ext cx="2743200" cy="47548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5603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E3A52"/>
                </a:solidFill>
              </a:rPr>
              <a:t>[ Scene Render
or Coverage Map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Purpose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65760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657600" cy="640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</a:rPr>
              <a:t>⚠ 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920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›  Empirical models (COST-231,
Okumura-Hata) give 20–36 dB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880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›  No terrain, no building geometry,
no material physics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840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›  Fixed-environment formulas —
break in new cities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234440"/>
            <a:ext cx="365760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234440"/>
            <a:ext cx="36576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🎯  Our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1920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›  Minimise RMSE against
1 200 real Ofcom measurements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880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›  Reproduce physical propagation:
diffraction, reflection, scatter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840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›  Differentiable RT calibration
(NVLabs Hoydis et al. 2023)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234440"/>
            <a:ext cx="365760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1234440"/>
            <a:ext cx="3657600" cy="64008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5592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CB7F"/>
                </a:solidFill>
              </a:rPr>
              <a:t>📡  The 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1920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›  Ofcom 2018 drive test
915.95 MHz, Nottingham 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880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›  1 200 receivers  |  0.3–9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3840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›  RSSI range: −118 to −23 dBm
Noise floor: −124 dBm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4864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04" y="1280160"/>
            <a:ext cx="11430000" cy="1024128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350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RQ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25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Flat Terrain vs DEM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32588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How much does digital elevation modelling (DEM) improve path loss
prediction accuracy over a flat z = 0 scene in Nottingham?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60320"/>
            <a:ext cx="54864" cy="777240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4" y="2450592"/>
            <a:ext cx="11430000" cy="1024128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0545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B7F"/>
                </a:solidFill>
              </a:rPr>
              <a:t>RQ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963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Differentiable RT 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496312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Can Sionna 0.19 differentiable RT (NVLabs approach) achieve
&lt; 5 dB RMSE on the Ofcom 2018 UK dataset after calibration?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30752"/>
            <a:ext cx="54864" cy="777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4" y="3621024"/>
            <a:ext cx="11430000" cy="1024128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758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</a:rPr>
              <a:t>RQ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6674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Optimal Scene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666744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Which combination of scene geometry, material parameters, and
ray-tracing settings best represents urban Nottingham at 915 MHz?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Simulation &amp; Calibration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261872"/>
            <a:ext cx="1874519" cy="41148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261872"/>
            <a:ext cx="1874519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1737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INPUT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67712"/>
            <a:ext cx="1645919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17373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OSM + EA LiDAR
+ Ofcom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5" y="306324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2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03703" y="1261872"/>
            <a:ext cx="1874519" cy="41148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3703" y="1261872"/>
            <a:ext cx="1874519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3431" y="137160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0E0E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3431" y="1783080"/>
            <a:ext cx="1737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SCENE BUILDER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3431" y="2267712"/>
            <a:ext cx="1645919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13431" y="2359152"/>
            <a:ext cx="17373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nDSM + ITU-R P.2040-2
+ Terrain 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6" y="306324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2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51374" y="1261872"/>
            <a:ext cx="1874519" cy="41148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4" y="1261872"/>
            <a:ext cx="1874519" cy="54864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1102" y="137160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CB7F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1102" y="1783080"/>
            <a:ext cx="1737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RAY TRACING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1102" y="2267712"/>
            <a:ext cx="1645919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102" y="2359152"/>
            <a:ext cx="17373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Sionna 2.0 PathSolver
+ Sionna 0.19 Diff 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37" y="306324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2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5" y="1261872"/>
            <a:ext cx="1874519" cy="41148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9045" y="1261872"/>
            <a:ext cx="1874519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08773" y="137160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F1C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3" y="1783080"/>
            <a:ext cx="1737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CALIBRATION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8773" y="2267712"/>
            <a:ext cx="1645919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8773" y="2359152"/>
            <a:ext cx="17373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Scalar (Cell 10b)
Material (Cell 11b)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08" y="306324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2"/>
                </a:solidFill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16" y="1261872"/>
            <a:ext cx="1874519" cy="41148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16" y="1261872"/>
            <a:ext cx="1874519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6444" y="137160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D6D"/>
                </a:solidFill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4" y="1783080"/>
            <a:ext cx="1737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ML RESIDUAL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56444" y="2267712"/>
            <a:ext cx="1645919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4" y="2359152"/>
            <a:ext cx="17373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ResidualMLP (Cell 15)
CNN+MLP (Cell 14)
MaterialMLP (Cell 16)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30379" y="306324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3A52"/>
                </a:solidFill>
              </a:rPr>
              <a:t>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94387" y="1261872"/>
            <a:ext cx="1874519" cy="41148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94387" y="1261872"/>
            <a:ext cx="1874519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04115" y="137160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4115" y="1783080"/>
            <a:ext cx="17373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15" y="2267712"/>
            <a:ext cx="1645919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04115" y="2359152"/>
            <a:ext cx="17373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RMSE · MAE · Bias
STD · R² per band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55778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E0EF"/>
                </a:solidFill>
              </a:rPr>
              <a:t>Output Metrics per Distance Band:   RMSE  |  MAE  |  Bias  |  STD  |  R²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INPUT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Ofcom Dataset — GPS to Sionna Receivers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640080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99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Raw Ofcom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3990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GPS (WGS84 lat/lon)  +  RSSI (dBm)  per measurement 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128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Filter &amp; 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194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Keep 915.95 MHz  ·  drop RSSI &lt; −124 dBm  ·  remove duplicates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35808"/>
            <a:ext cx="292608" cy="292608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083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990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B7F"/>
                </a:solidFill>
              </a:rPr>
              <a:t>Coordinate 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9900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WGS84  →  UTM Zone 30N (EPSG:32630)  →  local scene XY (metres)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31336"/>
            <a:ext cx="292608" cy="292608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039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856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B7F"/>
                </a:solidFill>
              </a:rPr>
              <a:t>Height 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78561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RX Z = EA LiDAR DTM elevation  +  1.5 m AGL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26864"/>
            <a:ext cx="292608" cy="2926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994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811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Sionna RX Array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58114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Each point  →  Receiver object  ·  isotropic antenna  ·  1 200 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22392"/>
            <a:ext cx="292608" cy="29260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949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76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PL Reference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3766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PL_meas = TX_EIRP − RSSI_meas  (dB)  →  ground truth for RMSE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1234440"/>
            <a:ext cx="493776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9440" y="1234440"/>
            <a:ext cx="49377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Key Numbers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1920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Raw Ofcom 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19202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~4 000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23957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After filtering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23957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1 200 receivers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28712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Coverage range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28712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0.3 km – 9 km from TX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3467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TX location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33467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(−1.2559°, 52.9863°)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38221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TX height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38221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17 m AGL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2976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Frequency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4297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915.95 MHz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47731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RSSI range (meas)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20" y="47731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−118 to −22.9 dBm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52486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Noise floor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6920" y="52486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−124 dBm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57241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PL_meas range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57241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93.7 – 142.4 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SCENE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Scene Construction — Blender → OSM → Merged PLY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840480" cy="52578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840480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Stage 1 · Blender (Flat)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647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AD3DF"/>
                </a:solidFill>
              </a:rPr>
              <a:t>Manual · OSM importer plugin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21408"/>
            <a:ext cx="35661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94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B7F"/>
                </a:solidFill>
              </a:rPr>
              <a:t>✔  Pros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237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Fast to build — one import/export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Full geometry cleanup in GUI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284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Single merged PLY → Sionna loads in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764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6D"/>
                </a:solidFill>
              </a:rPr>
              <a:t>✘  Cons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1239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No terrain — flat z=0 plane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Nottingham hills completely absent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9286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Manual — not reproducible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3309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8–15 dB error at 300–1500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1234440"/>
            <a:ext cx="3840480" cy="52578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1234440"/>
            <a:ext cx="3840480" cy="64008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13716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B7F"/>
                </a:solidFill>
              </a:rPr>
              <a:t>Stage 2 · OSM Direct (DEM)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17647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AD3DF"/>
                </a:solidFill>
              </a:rPr>
              <a:t>Automated · Python OSMnx + scene builder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2121408"/>
            <a:ext cx="35661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2194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B7F"/>
                </a:solidFill>
              </a:rPr>
              <a:t>✔  Pros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25237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Fully automated &amp; reproducible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ITU-R P.2040-2 materials per building 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33284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Real terrain from EA LiDAR (2 m res)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377647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6D"/>
                </a:solidFill>
              </a:rPr>
              <a:t>✘  Cons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41239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OSM heights often missing → estimated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OSM tags inconsistent across Nottingham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49286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Longer scene build 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74736" y="1234440"/>
            <a:ext cx="3840480" cy="52578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74736" y="1234440"/>
            <a:ext cx="38404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11896" y="13716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Stage 3 · Merged PLY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17647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AD3DF"/>
                </a:solidFill>
              </a:rPr>
              <a:t>Why we merged 150 k files → one per material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11896" y="2121408"/>
            <a:ext cx="35661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1896" y="2194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B7F"/>
                </a:solidFill>
              </a:rPr>
              <a:t>✔  Pros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1896" y="25237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Scene load: 20 min → 45 sec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1896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Single BVH → 50× faster ray traversal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1896" y="33284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No GPU memory fragmentation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1896" y="37307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Solve rate improved directly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1896" y="41788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6D"/>
                </a:solidFill>
              </a:rPr>
              <a:t>✘  Cons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1896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Per-material merge requires preprocessing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1896" y="49286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   Harder to inspect individual buildings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ERROR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Known Error Sources — Building Heights &amp; Terrain Geometry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486400" cy="260604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548640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Building Height Problem — Both Scenes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OSM height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7556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Only ~30% of buildings have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7556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4D6D"/>
                </a:solidFill>
              </a:rPr>
              <a:t>70% use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396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building:levels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1396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height = levels × 3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396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4D6D"/>
                </a:solidFill>
              </a:rPr>
              <a:t>Wrong for mixed-use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237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No 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5237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Default 8 m applied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5237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4D6D"/>
                </a:solidFill>
              </a:rPr>
              <a:t>Underestimates tall buildings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077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Industrial/warehouse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9077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Tagged as residential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9077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4D6D"/>
                </a:solidFill>
              </a:rPr>
              <a:t>Wrong shadowing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37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9F1C"/>
                </a:solidFill>
              </a:rPr>
              <a:t>→ Wrong building heights = wrong diffraction angles = wrong path loss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5394960" cy="256032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539496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416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Flat Terrain Errors (Sionna v1)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988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Terrain missing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4988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All buildings on z=0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4988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4D6D"/>
                </a:solidFill>
              </a:rPr>
              <a:t>+8–15 dB overestimate 300–1500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828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Ground reflection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8828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Flat plane — wrong angle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8828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4D6D"/>
                </a:solidFill>
              </a:rPr>
              <a:t>~3–5 dB additional bias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669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RX height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2669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1.5 m above z=0, not real ground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2669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4D6D"/>
                </a:solidFill>
              </a:rPr>
              <a:t>Some RX inside terrain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1188720"/>
            <a:ext cx="5943600" cy="260604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1188720"/>
            <a:ext cx="5943600" cy="54864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12984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B7F"/>
                </a:solidFill>
              </a:rPr>
              <a:t>DEM Terrain Errors (Sionna v2)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17556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Building heights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17556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DEM fixes ground Z, not building tops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17556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F1C"/>
                </a:solidFill>
              </a:rPr>
              <a:t>Residual ±3–8 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21396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DEM resolution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1396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2 m — small walls/hedges missed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21396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F1C"/>
                </a:solidFill>
              </a:rPr>
              <a:t>Minor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25237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Roof geometry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5237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Flat-roof box — no pitched roofs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5560" y="252374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F1C"/>
                </a:solidFill>
              </a:rPr>
              <a:t>Diffraction angle error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3931920"/>
            <a:ext cx="5943600" cy="256032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3931920"/>
            <a:ext cx="5943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40416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Key Takeaway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48056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3DF"/>
                </a:solidFill>
              </a:rPr>
              <a:t>Flat terrain: dominant error is missing hills → systematic bias
DEM terrain: dominant error is building height estimation → random scatter
Both improve with material calibration — but building height is a hard geometric limit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ELEVATION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Elevation Data Sources — DTM, DSM &amp; nDSM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749039" cy="64008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3716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CB7F"/>
                </a:solidFill>
              </a:rPr>
              <a:t>DTM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874519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3DF"/>
                </a:solidFill>
              </a:rPr>
              <a:t>Digital Terrain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267712"/>
            <a:ext cx="3428999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37744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Captures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77440"/>
            <a:ext cx="2331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Bare earth only
(ground, roads, rivers)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09067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3090672"/>
            <a:ext cx="2331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EA LiDAR 1m
(last / ground returns)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803904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Use in scene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3803904"/>
            <a:ext cx="2331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Terrain mesh PLY
→ correct RX ground 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517136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517136"/>
            <a:ext cx="2331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No buildings or trees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23943" y="1234440"/>
            <a:ext cx="3749039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23943" y="1234440"/>
            <a:ext cx="3749039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5" y="13716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F1C"/>
                </a:solidFill>
              </a:rPr>
              <a:t>DSM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8535" y="1874519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3DF"/>
                </a:solidFill>
              </a:rPr>
              <a:t>Digital Surface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8535" y="2267712"/>
            <a:ext cx="3428999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8535" y="237744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Captures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5815" y="2377440"/>
            <a:ext cx="2331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Everything — ground +
buildings + trees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8535" y="309067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815" y="3090672"/>
            <a:ext cx="2331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EA LiDAR 1m
(first returns)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8535" y="3803904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Use in scene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85815" y="3803904"/>
            <a:ext cx="2331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Building height
estimation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8535" y="4517136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Limitation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85815" y="4517136"/>
            <a:ext cx="2331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Cannot separate building
from terrain directly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73566" y="1234440"/>
            <a:ext cx="3749039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73566" y="1234440"/>
            <a:ext cx="3749039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58" y="13716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nDSM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58" y="1874519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3DF"/>
                </a:solidFill>
              </a:rPr>
              <a:t>Normalised DSM = DSM − DTM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58" y="2267712"/>
            <a:ext cx="3428999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58" y="237744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Captures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38" y="2377440"/>
            <a:ext cx="2331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Height of objects
ABOVE ground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58" y="3090672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Source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38" y="3090672"/>
            <a:ext cx="2331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Derived: DSM − DTM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58" y="3803904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Use in scene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38" y="3803904"/>
            <a:ext cx="2331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Accurate per-building
AGL height from LiDAR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4517136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Limitation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38" y="4517136"/>
            <a:ext cx="2331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Requires both DTM
&amp; DSM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5989320"/>
            <a:ext cx="5212080" cy="530352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0" y="5989320"/>
            <a:ext cx="52120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60624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nDSM = DSM − DTM   →   object height above ground (buildings, trees)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RESULTS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RMSE Results — Flat / DTM / nDSM Scene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Scene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325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Terrain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3258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Building Heights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3258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3258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325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Key Issue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91640"/>
            <a:ext cx="1170432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828800"/>
            <a:ext cx="45720" cy="11887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11612880" cy="118872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205740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6D"/>
                </a:solidFill>
              </a:rPr>
              <a:t>Flat z=0
(Sionna v1)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05740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None — z=0 plane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OSM estimate / default 8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05740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6D"/>
                </a:solidFill>
              </a:rPr>
              <a:t>19.6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057400"/>
            <a:ext cx="822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−4.4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993392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Missing hills → +8–15 dB overestimate
at 300–1500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127248"/>
            <a:ext cx="45720" cy="11887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127248"/>
            <a:ext cx="11612880" cy="118872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3355848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</a:rPr>
              <a:t>DTM terrain
(Sionna v2)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355848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EA LiDAR DTM 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355848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OSM floor count / default 8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355848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F1C"/>
                </a:solidFill>
              </a:rPr>
              <a:t>14.1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355848"/>
            <a:ext cx="822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~0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2918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Building height estimation
still introduces ±3–8 dB scatter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425696"/>
            <a:ext cx="45720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425696"/>
            <a:ext cx="11612880" cy="118872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654296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nDSM heights
(2.8–6 GHz)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4654296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EA LiDAR DTM 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4654296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LiDAR nDSM (accurate AGL)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654296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Used in
2.8 GHz scene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654296"/>
            <a:ext cx="822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590288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Rooftop equip added —
only valid at higher frequencies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577840"/>
            <a:ext cx="11612880" cy="8686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5577840"/>
            <a:ext cx="11612880" cy="45720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6875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Key Finding:  DTM terrain alone reduces RMSE by 5.5 dB (19.6 → 14.1 dB).  Bias drops from −4.4 dB → ~0 dB.  Terrain is essential — building height remains the next bottleneck.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SCENE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Final Scene: scene_v2_infra — How DTM + nDSM Are Merged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4864" cy="685800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04" y="1261872"/>
            <a:ext cx="6675120" cy="9144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B7F"/>
                </a:solidFill>
              </a:rPr>
              <a:t>EA LiDAR DTM 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335024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Ground-only elevation raster (GeoTIFF)
Covered: 11×11 km Nottingham bbox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2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95728"/>
            <a:ext cx="54864" cy="6858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4" y="2286000"/>
            <a:ext cx="6675120" cy="9144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591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EA LiDAR DSM 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59152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First-return surface raster
Includes buildings + trees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186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2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19856"/>
            <a:ext cx="54864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4" y="3310128"/>
            <a:ext cx="6675120" cy="9144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8328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nDSM = DSM − DTM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38328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Per-pixel height above ground
Median filter → remove LiDAR spikes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24281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2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443984"/>
            <a:ext cx="54864" cy="6858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4" y="4334256"/>
            <a:ext cx="6675120" cy="9144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074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OSM Footprints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407408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Building polygons + landuse tags
Height assigned from nDSM median under footprint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2669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2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468112"/>
            <a:ext cx="54864" cy="685800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4" y="5358384"/>
            <a:ext cx="6675120" cy="9144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4315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B7F"/>
                </a:solidFill>
              </a:rPr>
              <a:t>scene_v2_infra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431536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terrain.ply (DTM mesh) + building meshes
+ road/veg/infra + ITU-R P.2040-2 materials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62910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3A52"/>
                </a:solidFill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1234440"/>
            <a:ext cx="466344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0" y="1234440"/>
            <a:ext cx="46634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13716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What Each Layer Contributes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1947671"/>
            <a:ext cx="36576" cy="658368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1920239"/>
            <a:ext cx="1371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CB7F"/>
                </a:solidFill>
              </a:rPr>
              <a:t>DTM terrain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8" y="1920239"/>
            <a:ext cx="1463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Correct ground Z
→ RX at real AGL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51008" y="1920239"/>
            <a:ext cx="1508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CB7F"/>
                </a:solidFill>
              </a:rPr>
              <a:t>8–15 dB bias removed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2825495"/>
            <a:ext cx="36576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16368" y="2798063"/>
            <a:ext cx="1371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D8"/>
                </a:solidFill>
              </a:rPr>
              <a:t>nDSM heights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7968" y="2798063"/>
            <a:ext cx="1463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Accurate building
heights from LiDAR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51008" y="2798063"/>
            <a:ext cx="1508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CB7F"/>
                </a:solidFill>
              </a:rPr>
              <a:t>Correct diffraction angles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3703319"/>
            <a:ext cx="36576" cy="65836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16368" y="3675887"/>
            <a:ext cx="1371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OSM footprints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87968" y="3675887"/>
            <a:ext cx="1463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Building positions
and 2D shapes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51008" y="3675887"/>
            <a:ext cx="1508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CB7F"/>
                </a:solidFill>
              </a:rPr>
              <a:t>3D geometry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4581143"/>
            <a:ext cx="36576" cy="65836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16368" y="4553711"/>
            <a:ext cx="1371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9F1C"/>
                </a:solidFill>
              </a:rPr>
              <a:t>ITU materials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7968" y="4553711"/>
            <a:ext cx="1463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EM properties
per surface type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51008" y="4553711"/>
            <a:ext cx="1508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CB7F"/>
                </a:solidFill>
              </a:rPr>
              <a:t>Physical reflection/scatter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RAY TRACING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Ray Tracing Configuration — Mechanisms &amp;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3949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Ray Mechanisms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59"/>
            <a:ext cx="256032" cy="256032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2023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01951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0195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Direct path TX → RX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15767"/>
            <a:ext cx="256032" cy="256032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70047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5175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Specular Reflection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651759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Building face bounce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65575"/>
            <a:ext cx="256032" cy="256032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19855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01567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Diffraction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401567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Over rooftops / wedge edges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15383"/>
            <a:ext cx="256032" cy="256032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169663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15137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Edge Diffraction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15137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Around building corners — dominant NLOS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965191"/>
            <a:ext cx="256032" cy="256032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19471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901183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Scattering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901183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Lambertian rough surface diffuse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760720"/>
            <a:ext cx="5394960" cy="6858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83387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E0EF"/>
                </a:solidFill>
              </a:rPr>
              <a:t>72% of rays are diffraction — edge diffraction is the dominant
propagation mechanism in urban Nottingham NLOS at 915 MHz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234440"/>
            <a:ext cx="594360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1234440"/>
            <a:ext cx="594360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137160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Solver Parameters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187451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Frequency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18745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915.95 MHz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350007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MAX_DEPTH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35000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  (up to 7 bounces)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2825495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NUM_SAMPLES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2825495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10 000 000  (NVLabs approach)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3300983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TX height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300983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17 m AGL  (mast)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776471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RX height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377647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1.5 m AGL  (IoT device)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25195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TX antenna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25195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Dipole — donut pattern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727447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RX antenna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72744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Isotropic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5202935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Noise floor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5202935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−124 dBm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5678423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BATCH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5678423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 receiver per solve (NVLabs)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OSM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OSM Features Downloaded — Role in Propagation Physics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57784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577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Feature Classes Downloaded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56815"/>
            <a:ext cx="36576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D8"/>
                </a:solidFill>
              </a:rPr>
              <a:t>Buildings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874519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AD3DF"/>
                </a:solidFill>
              </a:rPr>
              <a:t>building=*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74519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52 248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874519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Brick/Concrete/Glass/Metal/Wood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32303"/>
            <a:ext cx="36576" cy="274320"/>
          </a:xfrm>
          <a:prstGeom prst="rect">
            <a:avLst/>
          </a:prstGeom>
          <a:solidFill>
            <a:srgbClr val="CA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50007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AD3DF"/>
                </a:solidFill>
              </a:rPr>
              <a:t>Roads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350007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AD3DF"/>
                </a:solidFill>
              </a:rPr>
              <a:t>highway=*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350007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Full 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350007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Asphalt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907791"/>
            <a:ext cx="36576" cy="274320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825495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CB7F"/>
                </a:solidFill>
              </a:rPr>
              <a:t>Trees/Vegetation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825495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AD3DF"/>
                </a:solidFill>
              </a:rPr>
              <a:t>natural=tree, landuse=forest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825495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~273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825495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Vegetation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383279"/>
            <a:ext cx="36576" cy="2743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00983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9F1C"/>
                </a:solidFill>
              </a:rPr>
              <a:t>Masts/Towers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30098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AD3DF"/>
                </a:solidFill>
              </a:rPr>
              <a:t>man_made=mast/tower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300983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100s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300983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Metal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858767"/>
            <a:ext cx="36576" cy="2743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76471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9F1C"/>
                </a:solidFill>
              </a:rPr>
              <a:t>Power pylons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7647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AD3DF"/>
                </a:solidFill>
              </a:rPr>
              <a:t>power=tower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776471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100s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3776471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Metal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334255"/>
            <a:ext cx="36576" cy="2743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251959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D6D"/>
                </a:solidFill>
              </a:rPr>
              <a:t>Railways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4251959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AD3DF"/>
                </a:solidFill>
              </a:rPr>
              <a:t>railway=rail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251959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Full net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4251959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Metal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809743"/>
            <a:ext cx="36576" cy="274320"/>
          </a:xfrm>
          <a:prstGeom prst="rect">
            <a:avLst/>
          </a:prstGeom>
          <a:solidFill>
            <a:srgbClr val="CA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727447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AD3DF"/>
                </a:solidFill>
              </a:rPr>
              <a:t>Water bodies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727447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AD3DF"/>
                </a:solidFill>
              </a:rPr>
              <a:t>natural=water, waterway=*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4727447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Polygons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4727447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Water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285231"/>
            <a:ext cx="36576" cy="274320"/>
          </a:xfrm>
          <a:prstGeom prst="rect">
            <a:avLst/>
          </a:prstGeom>
          <a:solidFill>
            <a:srgbClr val="CA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202935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AD3DF"/>
                </a:solidFill>
              </a:rPr>
              <a:t>Barriers/embank.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5202935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AD3DF"/>
                </a:solidFill>
              </a:rPr>
              <a:t>barrier=*, embankment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5202935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Many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1960" y="5202935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Concrete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760719"/>
            <a:ext cx="36576" cy="274320"/>
          </a:xfrm>
          <a:prstGeom prst="rect">
            <a:avLst/>
          </a:prstGeom>
          <a:solidFill>
            <a:srgbClr val="CA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678423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AD3DF"/>
                </a:solidFill>
              </a:rPr>
              <a:t>Car parks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40" y="567842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AD3DF"/>
                </a:solidFill>
              </a:rPr>
              <a:t>amenity=parking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5678423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Many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1960" y="5678423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Concrete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1234440"/>
            <a:ext cx="589788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35040" y="1234440"/>
            <a:ext cx="589788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72200" y="1371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Propagation Impact per Feature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0" y="1956815"/>
            <a:ext cx="36576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36208" y="187451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D8"/>
                </a:solidFill>
              </a:rPr>
              <a:t>Buildings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07808" y="187451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Diffraction + reflection — dominant NLOS loss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08208" y="1874519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B4D8"/>
                </a:solidFill>
              </a:rPr>
              <a:t>Primary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2578607"/>
            <a:ext cx="36576" cy="2743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36208" y="249631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9F1C"/>
                </a:solidFill>
              </a:rPr>
              <a:t>Metal masts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07808" y="249631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Strong specular reflectors — secondary paths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08208" y="249631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9F1C"/>
                </a:solidFill>
              </a:rPr>
              <a:t>+2–5 dB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0" y="3200399"/>
            <a:ext cx="36576" cy="274320"/>
          </a:xfrm>
          <a:prstGeom prst="rect">
            <a:avLst/>
          </a:prstGeom>
          <a:solidFill>
            <a:srgbClr val="CA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36208" y="3118103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AD3DF"/>
                </a:solidFill>
              </a:rPr>
              <a:t>Roads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07808" y="3118103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Ground bounce — 2-ray interference pattern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08208" y="3118103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CAD3DF"/>
                </a:solidFill>
              </a:rPr>
              <a:t>±3 dB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6480" y="3822191"/>
            <a:ext cx="36576" cy="274320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36208" y="3739895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CB7F"/>
                </a:solidFill>
              </a:rPr>
              <a:t>Vegetation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07808" y="373989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Absorption + scatter (P.833) up to 67 dB at 9 km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08208" y="3739895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DCB7F"/>
                </a:solidFill>
              </a:rPr>
              <a:t>+12–27 dB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26480" y="4443983"/>
            <a:ext cx="36576" cy="2743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36208" y="4361687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D6D"/>
                </a:solidFill>
              </a:rPr>
              <a:t>Railways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07808" y="4361687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Specular waveguide along rail corridors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08208" y="4361687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F4D6D"/>
                </a:solidFill>
              </a:rPr>
              <a:t>Elevated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0" y="5065775"/>
            <a:ext cx="36576" cy="2743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36208" y="498347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Water (Trent)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07808" y="498347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Near-specular reflection — local enhancement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08208" y="4983479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90E0EF"/>
                </a:solidFill>
              </a:rPr>
              <a:t>Local +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26480" y="5687567"/>
            <a:ext cx="36576" cy="274320"/>
          </a:xfrm>
          <a:prstGeom prst="rect">
            <a:avLst/>
          </a:prstGeom>
          <a:solidFill>
            <a:srgbClr val="CA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36208" y="560527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AD3DF"/>
                </a:solidFill>
              </a:rPr>
              <a:t>Barriers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07808" y="560527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Extra diffraction edges — additional shielding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808208" y="5605271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CAD3DF"/>
                </a:solidFill>
              </a:rPr>
              <a:t>+2–8 dB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6492240"/>
            <a:ext cx="11612880" cy="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629107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E0EF"/>
                </a:solidFill>
              </a:rPr>
              <a:t>Metal infrastructure (σ = 10⁷ S/m) added in scene_v2_infra — absent in flat baseline.  At 915 MHz metal surfaces are near-perfect reflectors creating strong secondary paths.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TX / RX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13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TX &amp; RX Placement — GPS to Scene + Ray-Cast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657600" cy="2926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65760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TX — Transmitter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GPS (WGS84)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−1.25590°,  52.98630°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762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WGS84 → UTM 30N → scene 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237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Terrain 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5237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~79 m ODN  (EA LiDAR DTM)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712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AGL height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8712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+17 m  (mast)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186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Scene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218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~96 m absolute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Antenna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566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Dipole — donut 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136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E0EF"/>
                </a:solidFill>
              </a:rPr>
              <a:t>Ray-cast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9136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Downward ray → above terrain 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1234440"/>
            <a:ext cx="7772400" cy="2926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1234440"/>
            <a:ext cx="7772400" cy="54864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13716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B7F"/>
                </a:solidFill>
              </a:rPr>
              <a:t>RX — 1200 Ofcom Receivers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9392" y="1883664"/>
            <a:ext cx="219456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1856232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1828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GPS (WGS84)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18288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→  UTM Zone 30N (EPSG:32630)  →  local scene XY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9392" y="2304288"/>
            <a:ext cx="219456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2276856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2494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DEM lookup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24942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Bilinear interpolation at (x,y) → terrain Z from LiDAR DTM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2724912"/>
            <a:ext cx="219456" cy="219456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79392" y="2697480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2670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B7F"/>
                </a:solidFill>
              </a:rPr>
              <a:t>Height assignment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26700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RX Z = terrain Z + 1.5 m AGL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79392" y="3145536"/>
            <a:ext cx="219456" cy="21945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79392" y="3118104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0906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</a:rPr>
              <a:t>Ray-cast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30906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Shoot ray downward → if first hit above RX → inside building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9392" y="3566160"/>
            <a:ext cx="219456" cy="219456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9392" y="3538728"/>
            <a:ext cx="219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51129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6D"/>
                </a:solidFill>
              </a:rPr>
              <a:t>Fix if invalid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351129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Raise RX to building roof + 0.1 m  OR  exclude from solve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343400"/>
            <a:ext cx="11612880" cy="214884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4343400"/>
            <a:ext cx="1161288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4622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Why Positioning Validation Matters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892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F1C"/>
                </a:solidFill>
              </a:rPr>
              <a:t>RX inside building footprint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4892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Spawned in solid geometry → no paths → NaN RSSI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CB7F"/>
                </a:solidFill>
              </a:rPr>
              <a:t>Ray-cast detects → adjust 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2760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F1C"/>
                </a:solidFill>
              </a:rPr>
              <a:t>TX near building face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527608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Rays immediately blocked → unrealistic near-field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52760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CB7F"/>
                </a:solidFill>
              </a:rPr>
              <a:t>Minimum clearance check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6601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F1C"/>
                </a:solidFill>
              </a:rPr>
              <a:t>DEM returns 0 at scene edge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0" y="566013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RX at z=1.5 m → inside terrain → all paths blocked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0" y="56601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CB7F"/>
                </a:solidFill>
              </a:rPr>
              <a:t>Fallback to median terrain Z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04418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F1C"/>
                </a:solidFill>
              </a:rPr>
              <a:t>Ofcom GPS imprecision ±3–10 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80" y="604418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RX may be on wrong side of building wall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60441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CB7F"/>
                </a:solidFill>
              </a:rPr>
              <a:t>Accepted — statistical uncertainty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LOS / NLOS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14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Receiver Classification — LOS vs NLOS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0352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3035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Classification &amp;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3DF"/>
                </a:solidFill>
              </a:rPr>
              <a:t>Method: LOS if direct path amplitude |a_LOS|² &gt; 0 in solved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4937760" cy="749808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54864" cy="749808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414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CB7F"/>
                </a:solidFill>
              </a:rPr>
              <a:t>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414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~20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4414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CB7F"/>
                </a:solidFill>
              </a:rPr>
              <a:t>1.7%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4963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&lt; 200 m · open streets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4937760" cy="749808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54864" cy="74980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558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6D"/>
                </a:solidFill>
              </a:rPr>
              <a:t>NLOS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5584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~1120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3558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</a:rPr>
              <a:t>98.3%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4107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AD3DF"/>
                </a:solidFill>
              </a:rPr>
              <a:t>All ranges · urban canyon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15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Ray Type Breakdown — 153 450 total rays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43891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817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Diffraction  110 618  (72.1%)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93792"/>
            <a:ext cx="1467098" cy="2743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1206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Multi-reflection  37 006  (24.1%)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32704"/>
            <a:ext cx="127838" cy="274320"/>
          </a:xfrm>
          <a:prstGeom prst="rect">
            <a:avLst/>
          </a:prstGeom>
          <a:solidFill>
            <a:srgbClr val="CA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5595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Reflection  3 190  (2.1%)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071616"/>
            <a:ext cx="103488" cy="274320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984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LOS  2 636  (1.7%)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1234440"/>
            <a:ext cx="603504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52160" y="1234440"/>
            <a:ext cx="603504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1371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Why It Matters for Path Loss Modelling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1965959"/>
            <a:ext cx="45720" cy="731520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1874519"/>
            <a:ext cx="5760720" cy="9144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194767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B7F"/>
                </a:solidFill>
              </a:rPr>
              <a:t>LOS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1947671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Free-space + ground reflection
Friis equation sufficient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971799"/>
            <a:ext cx="45720" cy="7315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9320" y="2880359"/>
            <a:ext cx="5760720" cy="9144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295351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NLOS &lt; 500 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2953511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Diffraction over 1–2 rooftops
Edge diffraction critical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977639"/>
            <a:ext cx="45720" cy="7315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89320" y="3886199"/>
            <a:ext cx="5760720" cy="9144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395935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6D"/>
                </a:solidFill>
              </a:rPr>
              <a:t>NLOS 500–2000 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3959351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Multi-hop diffraction + scatter
Full ray tracing essential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4983479"/>
            <a:ext cx="4572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89320" y="4892039"/>
            <a:ext cx="5760720" cy="9144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496519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NLOS &gt; 2000 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965191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Statistical scatter paths
10M+ samples needed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5870448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0E0EF"/>
                </a:solidFill>
              </a:rPr>
              <a:t>98.3% NLOS — empirical models calibrated for mixed LOS/NLOS are fundamentally mismatched.
Ray tracing is necessary.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CALIBRATION · 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15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Stage 1 — Scalar Offset Calibration  (NVLabs ITU Materials Baseline)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48640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4864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01952"/>
            <a:ext cx="256032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2880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Pre-trace all receivers once — cache RSSI
(no gradient — offline)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24912"/>
            <a:ext cx="256032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517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Ghost path filter: remove PL_sim &gt; PL_meas_max + 10 dB
(physically impossible multi-bounce paths)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47872"/>
            <a:ext cx="256032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20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Single trainable scalar: scaling_factor_db
Minimise SMAPE loss on linear power (NVLabs standard)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70832"/>
            <a:ext cx="256032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43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9768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Best-RMSE checkpoint — save scalar at lowest RMSE step
(not SMAPE-final — prevents overshoot)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70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E3A52"/>
                </a:solidFill>
              </a:rPr>
              <a:t>Reference: Hoydis et al. 2023 (arXiv:2311.18558) — ITU Materials scalar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234440"/>
            <a:ext cx="594360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234440"/>
            <a:ext cx="5943600" cy="54864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B7F"/>
                </a:solidFill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187451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Receivers solved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87451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383 / 1140  (34%)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404871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Valid pairs after 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40487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935223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Ghost paths removed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935223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165  (PL &gt; 154.4 dB)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46557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Pre-calibration RMSE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465575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B7F"/>
                </a:solidFill>
              </a:rPr>
              <a:t>14.12 dB  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995927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Best-RMSE scalar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995927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−0.50 dB  (≈ 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52627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Post-calibration RMSE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52627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14.43 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5056631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RMSE improvement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505663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−0.31 dB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5532120"/>
            <a:ext cx="5943600" cy="8686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5532120"/>
            <a:ext cx="5943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562356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Best scalar ≈ 0 dB — scene_v2_infra + DEM is already
physically well-calibrated. Scalar stage validates, not corrects.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CALIBRATION · 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16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Stage 2 — Differentiable Material Calibration  (Full NVLabs)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02920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02920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Trainable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8288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17 materials × 3 vars (εᵣ, σ, S) = 51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Gradient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4231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compute_fields() inside GradientTape
→ fully differentiable through 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0175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SMAPE on linear power
+ Tikhonov regularisation → ITU-R P.2040-2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118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611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Adam  LR=0.05 → cosine decay → 0.001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8006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Initialised at ITU-R P.2040-2 Table 3 values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1234440"/>
            <a:ext cx="6400800" cy="521208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0" y="1234440"/>
            <a:ext cx="6400800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137160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17 Materials — ITU-R P.2040-2 Initial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18105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D8"/>
                </a:solidFill>
              </a:rPr>
              <a:t>Material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18105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D8"/>
                </a:solidFill>
              </a:rPr>
              <a:t>εᵣ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8105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D8"/>
                </a:solidFill>
              </a:rPr>
              <a:t>σ (S/m)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181051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D8"/>
                </a:solidFill>
              </a:rPr>
              <a:t>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60" y="2148840"/>
            <a:ext cx="612648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0" y="2267712"/>
            <a:ext cx="6400800" cy="347472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3560" y="23042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itu_concrete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23042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5.31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3042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0.0304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30428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2615184"/>
            <a:ext cx="64008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26517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itu_brick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265176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3.91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26517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0.0238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265176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2962656"/>
            <a:ext cx="6400800" cy="347472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23560" y="299923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itu_glass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299923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6.27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299923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0.0039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20" y="299923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3310128"/>
            <a:ext cx="64008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3560" y="334670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itu_metal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334670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1.00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334670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1.0×10⁷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334670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3657600"/>
            <a:ext cx="6400800" cy="347472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3560" y="369417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itu_asphalt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369417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2.56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369417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0.0050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04120" y="3694176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4005072"/>
            <a:ext cx="64008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23560" y="404164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itu_vegetation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40416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1.50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40416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0.0019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04120" y="4041648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0.40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4352544"/>
            <a:ext cx="6400800" cy="347472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23560" y="43891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itu_wet_ground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92440" y="43891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31.07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6840" y="43891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0.1338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04120" y="43891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0.35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0" y="4700016"/>
            <a:ext cx="64008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23560" y="47365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itu_water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92440" y="473659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80.00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06840" y="473659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0.0100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4736592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0.03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0" y="5047488"/>
            <a:ext cx="6400800" cy="347472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23560" y="508406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itu_wood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2440" y="508406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1.99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06840" y="50840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0.0043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5084064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3DF"/>
                </a:solidFill>
              </a:rPr>
              <a:t>0.15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23560" y="54864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Target: RMSE &lt; 10 dB  (from 14.12 dB baseline)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ANTENNA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AD3DF"/>
                </a:solidFill>
              </a:rPr>
              <a:t>17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Antenna Configuration — TX &amp; RX Specifications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16459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32004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39496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TX — Transmitter Antenna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87451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Collinear omni (simulated as dipole)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2199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22199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Donut — omni in azimuth, null at zenith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69463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569463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1.3 dBi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1693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Polarisation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916935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Vertical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6440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Height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26440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17 m AGL on mast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7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Sionna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61187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pattern='dipole'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5935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Conducted power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95935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49.0 dBm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06823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EIRP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306823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49.0 + 1.3 = 50.3 dBm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17720"/>
            <a:ext cx="5394960" cy="237744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617720"/>
            <a:ext cx="5394960" cy="54864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B7F"/>
                </a:solidFill>
              </a:rPr>
              <a:t>RX — Receiver Antenna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12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2120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Isotropic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138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5138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Uniform — equal gain all directions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155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Gain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815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 dBi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1173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Height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61173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1.5 m AGL (IoT device)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190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Sionna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64190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pattern='iso'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720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Noise floor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67208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−124 dBm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1234440"/>
            <a:ext cx="5943600" cy="548640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1234440"/>
            <a:ext cx="59436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Why These Choices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1874519"/>
            <a:ext cx="5760720" cy="100584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89320" y="1874519"/>
            <a:ext cx="45720" cy="10058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1965959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</a:rPr>
              <a:t>TX dipole
(not iso)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1965959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Real Ofcom mast uses collinear omni —
donut pattern matches real radiation shape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2971799"/>
            <a:ext cx="5760720" cy="100584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89320" y="2971799"/>
            <a:ext cx="45720" cy="1005840"/>
          </a:xfrm>
          <a:prstGeom prst="rect">
            <a:avLst/>
          </a:prstGeom>
          <a:solidFill>
            <a:srgbClr val="2DC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3063239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B7F"/>
                </a:solidFill>
              </a:rPr>
              <a:t>RX isotropic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3063239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IoT devices vary widely in orientation
→ iso avoids assuming device direction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4069079"/>
            <a:ext cx="5760720" cy="100584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89320" y="4069079"/>
            <a:ext cx="45720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4160519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RX iso = Sionna 2.0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4160519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Cross-notebook consistency —
both use same RX model for fair comparison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5166359"/>
            <a:ext cx="5760720" cy="1005840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89320" y="5166359"/>
            <a:ext cx="45720" cy="10058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0" y="5257799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Noise −124 dBm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5257799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3DF"/>
                </a:solidFill>
              </a:rPr>
              <a:t>Covers full Ofcom RSSI range
(−118 to −22.9 dBm) — no valid meas. excluded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