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Ray Tracing for Path Loss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90E0EF"/>
                </a:solidFill>
              </a:rPr>
              <a:t>in Urban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50292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Scene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4290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Nottingham · Ofcom 2018 Drive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130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8130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915.95 MHz  (IoT / LoRaWAN band)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970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Sionna RT 2.0  +  Sionna 0.19 Differentiable 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811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581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Minimise RMSE against 1 200 real Ofcom measurements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47548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5603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E3A52"/>
                </a:solidFill>
              </a:rPr>
              <a:t>[ Scene Render
or Coverage Map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Purpose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640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Empirical models (COST-231,
Okumura-Hata) give 20–36 dB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No terrain, no building geometry,
no material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Fixed-environment formulas —
break in new cities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23444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🎯  Our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Minimise RMSE against
1 200 real Ofcom measurements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Reproduce physical propagation:
diffraction, reflection, scatter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Differentiable RT calibration
(NVLabs Hoydis et al.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34440"/>
            <a:ext cx="365760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📡  The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Ofcom 2018 drive test
915.95 MHz, Nottingham 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1 200 receivers  |  0.3–9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RSSI range: −118 to −23 dBm
Noise floor: −124 dBm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80160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RQ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Terrain vs 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3258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How much does digital elevation modelling (DEM) improve path loss
prediction accuracy over a flat z = 0 scene in Nottingham?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54864" cy="7772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RQ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96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Differentiable RT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963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Can Sionna 0.19 differentiable RT (NVLabs approach) achieve
&lt; 5 dB RMSE on the Ofcom 2018 UK dataset after calibration?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54864" cy="7772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621024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RQ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Optimal Scene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666744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Which combination of scene geometry, material parameters, and
ray-tracing settings best represents urban Nottingham at 915 MHz?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&amp; Calibration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INPUT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OSM + EA LiDAR
+ Ofcom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5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3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3703" y="1261872"/>
            <a:ext cx="1874519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3431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0E0E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3431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SCENE 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3431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13431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nDSM + ITU-R P.2040-2
+ Terrain 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6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4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51374" y="1261872"/>
            <a:ext cx="1874519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1102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2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RAY TRACING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2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2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Sionna 2.0 PathSolver
+ Sionna 0.19 Diff 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7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5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9045" y="1261872"/>
            <a:ext cx="1874519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3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3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CALIBRATION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3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8773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Scalar (Cell 10b)
Material (Cell 11b)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08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6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6" y="1261872"/>
            <a:ext cx="1874519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4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4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ML RESIDUAL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4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6444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ResidualMLP (Cell 15)
CNN+MLP (Cell 14)
MaterialMLP (Cell 16)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79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4387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94387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15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5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15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15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RMSE · MAE · Bias
STD · R² per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5778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E0EF"/>
                </a:solidFill>
              </a:rPr>
              <a:t>Output Metrics per Distance Band:   RMSE  |  MAE  |  Bias  |  STD  |  R²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Ofcom Dataset — GPS to Sionna Receivers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Raw Ofcom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990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GPS (WGS84 lat/lon)  +  RSSI (dBm)  per measurement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Filter &amp;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Keep 915.95 MHz  ·  drop RSSI &lt; −124 dBm  ·  remove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35808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083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90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Coordinate 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90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WGS84  →  UTM Zone 30N (EPSG:32630)  →  local scene XY (metres)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31336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0390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85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856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RX Z = EA LiDAR DTM elevation  +  1.5 m AGL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26864"/>
            <a:ext cx="292608" cy="2926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99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Sionna RX 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581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Each point  →  Receiver object  ·  isotropic antenna  ·  1 200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292608" cy="29260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PL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3766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PL_meas = TX_EIRP − RSSI_meas  (dB)  →  ground truth for RMSE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234440"/>
            <a:ext cx="49377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0" y="1234440"/>
            <a:ext cx="49377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Key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Raw Ofcom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~4 000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After filtering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23957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1 200 receivers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8712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Coverage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28712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 km – 9 km from TX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location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(−1.2559°, 52.9863°)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8221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3822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297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297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773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RSSI range (meas)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73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−118 to −22.9 dBm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52486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2486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PL_meas range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724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93.7 – 142.4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Scene Construction — Blender → OSM → Merged 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840480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Stage 1 · Blender (Flat)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Manual · OSM importer 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Fast to build — one import/export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 geometry cleanup in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merged PLY → Sionna loads in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terrain — flat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Nottingham hills completely 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Manual — not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30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8–15 dB error at 300–1500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84048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Stage 2 · OSM Direct (DEM)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Automated · Python OSMnx + scene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Fully automated &amp; reproducible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ITU-R P.2040-2 materials per building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Real terrain from EA LiDAR (2 m 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heights often missing → estimated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tags inconsistent across Nottingham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Longer scene build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4736" y="1234440"/>
            <a:ext cx="384048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Stage 3 · Merged PLY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Why we merged 150 k files → one per material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1896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6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Scene load: 20 min → 45 sec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BVH → 50× faster ray traversal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GPU memory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1896" y="37307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Solve rate improved 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178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Per-material merge requires preprocessing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Harder to inspect individual buildings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ERROR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Known Error Sources — Building Heights &amp; Terrain Geometry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54864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54864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Building Height Problem — Both Scenes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height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755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Only ~30% of buildings have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70% use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building:levels tag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139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= levels × 3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for mixed-use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No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5237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Default 8 m applied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Underestimates tall buildings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Industrial/warehouse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Tagged as residential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shadowing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9F1C"/>
                </a:solidFill>
              </a:rPr>
              <a:t>→ Wrong building heights = wrong diffraction angles = wrong path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539496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539496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Flat Terrain Errors (Sionna v1)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98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missing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498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buildings on z=0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498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+8–15 dB overestimate 300–1500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Ground reflection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8828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 plane — wrong angle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~3–5 dB additional bias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66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669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1.5 m above z=0, not real ground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2669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Some RX inside terrain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188720"/>
            <a:ext cx="59436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43600" y="118872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DEM Terrain Errors (Sionna v2)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7556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DEM fixes ground Z, not building tops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Residual ±3–8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DEM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213969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2 m — small walls/hedges missed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Minor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Roof geometry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25237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Flat-roof box — no pitched roofs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Diffraction angle error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594360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0" y="393192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40416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Takeaway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4480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Flat terrain: dominant error is missing hills → systematic bias
DEM terrain: dominant error is building height estimation → random scatter
Both improve with material calibration — but building height is a hard geometric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ELEVATION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Elevation Data Sources — DTM, DSM &amp; nDSM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49039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DTM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Terrain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Bare earth only
(ground, roads, rivers)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(last / ground returns)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Terrain mesh PLY
→ correct RX ground 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 buildings or trees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3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3943" y="1234440"/>
            <a:ext cx="3749039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8535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DSM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5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Surface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88535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8535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Everything — ground +
buildings +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5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(first returns)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5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5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
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5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5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Cannot separate building
from terrain directly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6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6" y="1234440"/>
            <a:ext cx="3749039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8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nDSM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8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Normalised DSM = DSM − DTM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8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8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of objects
ABOVE ground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38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Derived: DSM − DTM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58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38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per-building
AGL height from LiDAR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8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38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Requires both DTM
&amp; DSM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5989320"/>
            <a:ext cx="5212080" cy="53035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0" y="5989320"/>
            <a:ext cx="52120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6062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nDSM = DSM − DTM   →   object height above ground (buildings, trees)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RESULTS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RMSE Results — Flat / DTM / nDSM Scene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258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Scene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3258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325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3258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RMSE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258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325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Key Issue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91640"/>
            <a:ext cx="1170432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828800"/>
            <a:ext cx="45720" cy="1188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828800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05740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Flat z=0
(Sionna 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05740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None —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05740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estimate / default 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057400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6D"/>
                </a:solidFill>
              </a:rPr>
              <a:t>19.6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057400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−4.4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199339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Missing hills → +8–15 dB overestimate
at 300–1500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27248"/>
            <a:ext cx="45720" cy="1188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127248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355848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DTM terrain
(Sionna v2)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355848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355848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floor count / default 8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55848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F1C"/>
                </a:solidFill>
              </a:rPr>
              <a:t>14.1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355848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~0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2918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 estimation
still introduces ±3–8 dB scatter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25696"/>
            <a:ext cx="45720" cy="1188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425696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4654296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nDSM heights
(2.8–6 GHz)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4654296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654296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LiDAR nDSM (accurate AGL)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654296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Used in
2.8 GHz scene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54296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590288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Rooftop equip added —
only valid at higher frequencies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77840"/>
            <a:ext cx="1161288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5577840"/>
            <a:ext cx="11612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687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Finding:  DTM terrain alone reduces RMSE by 5.5 dB (19.6 → 14.1 dB).  Bias drops from −4.4 dB → ~0 dB.  Terrain is essential — building height remains the next bottleneck.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Final Scene: scene_v2_infra — How DTM + nDSM Are Merged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61872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EA LiDAR DTM 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33502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Ground-only elevation raster (GeoTIFF)
Covered: 11×11 km Nottingham bbox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95728"/>
            <a:ext cx="54864" cy="6858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286000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591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EA LiDAR DSM 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5915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First-return surface raster
Includes buildings + trees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186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19856"/>
            <a:ext cx="54864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310128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nDSM = DSM − DTM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Per-pixel height above ground
Median filter → remove LiDAR spikes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428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43984"/>
            <a:ext cx="54864" cy="68580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4" y="4334256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074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40740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polygons + landuse tags
Height assigned from nDSM median under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66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468112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4" y="5358384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scene_v2_infra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43153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terrain.ply (DTM mesh) + building meshes
+ road/veg/infra + ITU-R P.2040-2 materials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62910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1234440"/>
            <a:ext cx="46634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234440"/>
            <a:ext cx="4663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37160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What Each Layer Contributes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1947671"/>
            <a:ext cx="36576" cy="65836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920239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DTM terrain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968" y="1920239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Correct ground Z
→ RX at real AGL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51008" y="1920239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8–15 dB bias removed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825495"/>
            <a:ext cx="36576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6368" y="2798063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nDSM heights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8" y="2798063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building
heights from LiDAR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1008" y="2798063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Correct diffraction angles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703319"/>
            <a:ext cx="36576" cy="65836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16368" y="3675887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87968" y="3675887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positions
and 2D shapes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3675887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3D geometry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581143"/>
            <a:ext cx="36576" cy="65836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553711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ITU materials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4553711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EM properties
per surface 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553711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Physical reflection/scatter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Ray Tracing Configuration — Mechanisms &amp;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Ray Mechanisms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59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901951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Direct path TX → RX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7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51759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Specular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51759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face bounce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65575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985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01567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Diffraction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401567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Over rooftops / wedge edges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15383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6966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51375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Edge Diffraction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151375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Around building corners — dominant NLOS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65191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01183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901183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Lambertian rough surface diffuse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760720"/>
            <a:ext cx="539496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72% of rays are diffraction — edge diffraction is the dominant
propagation mechanism in urban Nottingham NLOS at 915 MHz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1371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Solver Parameters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187451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187451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35000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  (up to 7 bounces)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282549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82549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10 000 000  (NVLabs approach)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30098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30098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 (mast)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377647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77647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 (IoT device)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25195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antenna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25195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72744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antenna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72744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520293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20293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67842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567842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receiver per solve (NVLabs)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OSM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OSM Features Downloaded — Role in Propagation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Feature Classes Downloaded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7451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building=*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1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52 248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87451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Brick/Concrete/Glass/Metal/Wood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3230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5000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35000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highway=*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5000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35000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Asphalt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077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2549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Trees/Vegetation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82549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natural=tree, landuse=forest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82549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~273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82549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Vegetation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83279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0098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Masts/Towers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30098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man_made=mast/tower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30098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30098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5876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76471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Power pylons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77647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power=tower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776471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3776471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334255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25195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425195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railway=rail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25195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25195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80974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72744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Water bodies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472744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natural=water, waterway=*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72744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Polygons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72744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Water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85231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0293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Barriers/embank.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0240" y="520293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barrier=*, embankment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20293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520293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76071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67842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Car parks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20240" y="567842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amenity=parking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0" y="567842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60" y="567842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1234440"/>
            <a:ext cx="589788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35040" y="1234440"/>
            <a:ext cx="589788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Propagation Impact per Feature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187451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7808" y="187451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Diffraction + reflection — dominant NLOS loss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8208" y="187451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00B4D8"/>
                </a:solidFill>
              </a:rPr>
              <a:t>Primary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257860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6208" y="249631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Metal masts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07808" y="249631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Strong specular reflectors — secondary paths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8208" y="249631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9F1C"/>
                </a:solidFill>
              </a:rPr>
              <a:t>+2–5 dB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20039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36208" y="3118103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3118103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Ground bounce — 2-ray interference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8" y="3118103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±3 dB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8221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36208" y="3739895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Vegetation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07808" y="373989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Absorption + scatter (P.833) up to 67 dB at 9 km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8" y="3739895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DCB7F"/>
                </a:solidFill>
              </a:rPr>
              <a:t>+12–27 dB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4443983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36208" y="4361687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07808" y="436168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Specular waveguide along rail corridors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08208" y="4361687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4D6D"/>
                </a:solidFill>
              </a:rPr>
              <a:t>Elevated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5065775"/>
            <a:ext cx="36576" cy="2743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36208" y="498347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Water (Trent)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07808" y="498347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Near-specular reflection — local enhancement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08208" y="498347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90E0EF"/>
                </a:solidFill>
              </a:rPr>
              <a:t>Local +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80" y="5687567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6208" y="560527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07808" y="560527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Extra diffraction edges — additional shielding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08208" y="560527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+2–8 dB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6492240"/>
            <a:ext cx="11612880" cy="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629107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0E0EF"/>
                </a:solidFill>
              </a:rPr>
              <a:t>Metal infrastructure (σ = 10⁷ S/m) added in scene_v2_infra — absent in flat baseline.  At 915 MHz metal surfaces are near-perfect reflectors creating strong secondary paths.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TX / RX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TX &amp; RX Placement — GPS to Scene + Ray-Cast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TX — Transmitter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GPS (WGS84)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288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−1.25590°,  52.98630°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WGS84 → UTM 30N → scene 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237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5237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~79 m ODN  (EA LiDAR DTM)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AGL height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871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+17 m  (mast)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18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Scene 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218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~96 m absolute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Antenna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566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Ray-cast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136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Downward ray → above terrain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234440"/>
            <a:ext cx="77724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234440"/>
            <a:ext cx="77724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3716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RX — 1200 Ofcom Receivers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1883664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1856232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1828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GPS (WGS84)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828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→  UTM Zone 30N (EPSG:32630)  →  local scene XY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9392" y="2304288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227685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24942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DEM lookup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24942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Bilinear interpolation at (x,y) → terrain Z from LiDAR DTM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2724912"/>
            <a:ext cx="219456" cy="21945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697480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26700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26700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Z = terrain Z + 1.5 m AGL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9392" y="3145536"/>
            <a:ext cx="219456" cy="21945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9392" y="3118104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0906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Ray-cast 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09067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Shoot ray downward → if first hit above RX → inside building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79392" y="3566160"/>
            <a:ext cx="219456" cy="21945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392" y="3538728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Fix if invalid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351129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Raise RX to building roof + 0.1 m  OR  exclude from solve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343400"/>
            <a:ext cx="11612880" cy="2148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4343400"/>
            <a:ext cx="1161288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4622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Why Positioning Validation Matters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892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RX inside building footprint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48920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Spawned in solid geometry → no paths → NaN RSSI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Ray-cast detects → adjust 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2760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TX near building face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52760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Rays immediately blocked → unrealistic near-field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2760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Minimum clearance 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66013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DEM returns 0 at scene edge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566013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at z=1.5 m → inside terrain → all paths blocked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566013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Fallback to median terrain 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04418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Ofcom GPS imprecision ±3–10 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604418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may be on wrong side of building wall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60441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Accepted — statistical uncertainty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LOS / NLOS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Receiver Classification — LOS vs NLOS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0352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035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Classification &amp;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Method: LOS if direct path amplitude |a_LOS|² &gt; 0 in solved paths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54864" cy="7498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4414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4963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&lt; 200 m · open streets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461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54864" cy="7498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4D6D"/>
                </a:solidFill>
              </a:rPr>
              <a:t>NLOS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~1120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3558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98.3%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4107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ranges · urban canyon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159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Ray Type Breakdown — 153 450 total rays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754880"/>
            <a:ext cx="4389120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8172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Diffraction  110 618  (72.1%)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93792"/>
            <a:ext cx="1467098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Multi-reflection  37 006  (24.1%)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632704"/>
            <a:ext cx="127838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595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Reflection  3 190  (2.1%)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071616"/>
            <a:ext cx="103488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LOS  2 636  (1.7%)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234440"/>
            <a:ext cx="60350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2160" y="1234440"/>
            <a:ext cx="603504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1371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It Matters for Path Loss Modelling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965959"/>
            <a:ext cx="45720" cy="7315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187451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194767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194767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Free-space + ground reflection
Friis equation sufficient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2971799"/>
            <a:ext cx="45720" cy="7315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288035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295351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NLOS &lt; 500 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295351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Diffraction over 1–2 rooftops
Edge diffraction critical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3977639"/>
            <a:ext cx="45720" cy="7315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89320" y="388619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395935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6D"/>
                </a:solidFill>
              </a:rPr>
              <a:t>NLOS 500–2000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95935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Multi-hop diffraction + scatter
Full ray tracing essential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4983479"/>
            <a:ext cx="45720" cy="7315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489203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0" y="496519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NLOS &gt; 2000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496519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Statistical scatter paths
10M+ samples needed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5870448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98.3% NLOS — empirical models calibrated for mixed LOS/NLOS are fundamentally mismatched.
Ray tracing is necessary.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1 — Scalar Offset Calibration  (NVLabs ITU Materials Baseline)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74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Pre-trace all receivers once — cache RSSI
(no gradient — offline)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2491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5176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Ghost path filter: remove PL_sim &gt; PL_meas_max + 10 dB
(physically impossible multi-bounce paths)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4787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747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Single trainable scalar: scaling_factor_db
Minimise SMAPE loss on linear power (NVLabs standard)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7083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434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Best-RMSE checkpoint — save scalar at lowest RMSE step
(not SMAPE-final — prevents overshoot)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0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E3A52"/>
                </a:solidFill>
              </a:rPr>
              <a:t>Reference: Hoydis et al. 2023 (arXiv:2311.18558) — ITU Materials scalar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87451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Receivers solved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187451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383 / 1140  (34%)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Valid pairs after 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40487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935223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93522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165  (PL &gt; 154.4 dB)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465575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Pre-calibration RMSE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465575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14.12 dB 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995927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995927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−0.50 dB  (≈ 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52627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Post-calibration RMSE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52627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14.43 dB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05663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RMSE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505663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−0.31 dB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5532120"/>
            <a:ext cx="594360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0" y="5532120"/>
            <a:ext cx="59436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2356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Best scalar ≈ 0 dB — scene_v2_infra + DEM is already
physically well-calibrated. Scalar stage validates, not corrects.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2 — Differentiable Material Calibration  (Full NVLabs)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0292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0292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Trainable 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288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17 materials × 3 vars (εᵣ, σ, S) = 51 parameters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Gradient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4231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compute_fields() inside GradientTape
→ fully differentiable through 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0175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SMAPE on linear power
+ Tikhonov regularisation → ITU-R P.2040-2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Optimizer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6118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Adam  LR=0.05 → cosine decay → 0.001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2062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8006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Initialised at ITU-R P.2040-2 Table 3 values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1234440"/>
            <a:ext cx="6400800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13716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17 Materials — ITU-R P.2040-2 Initial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18105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Material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181051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εᵣ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81051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σ (S/m)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1810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148840"/>
            <a:ext cx="612648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2267712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3560" y="23042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itu_concrete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230428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3042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30428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2615184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26517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itu_brick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26517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265176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0.0238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65176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2962656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60" y="299923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itu_glass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9992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299923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299923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310128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33467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itu_metal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33467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33467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1.0×10⁷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04120" y="334670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0" y="3657600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36941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itu_asphalt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369417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69417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04120" y="369417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005072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60" y="40416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itu_vegetation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4041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404164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04164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0.40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0" y="4352544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60" y="43891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itu_wet_ground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2440" y="43891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31.07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3891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0.1338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38912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0" y="4700016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23560" y="47365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itu_water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92440" y="47365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80.00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473659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473659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5047488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23560" y="508406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2440" y="508406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508406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508406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560" y="5486400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Target: RMSE &lt; 10 dB  (from 14.12 dB baseline)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ANTENNA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Antenna Configuration — TX &amp; RX Specifications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3200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TX — Transmitter Antenna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7451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Collinear omni (simulated as dipole)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2199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Donut — omni in azimuth, null at zenith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6946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56946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1.3 dBi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16935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Polarisation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16935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Vertical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6440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264407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on mast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11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61187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pattern='dipole'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5935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Conducted power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95935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dBm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0682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EIRP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30682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+ 1.3 = 50.3 dBm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17720"/>
            <a:ext cx="5394960" cy="23774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617720"/>
            <a:ext cx="539496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754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RX — Receiver Antenna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2120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51383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551383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Uniform — equal gain all directions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155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58155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 dBi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17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611733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(IoT device)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64190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pattern='iso'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720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6720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1234440"/>
            <a:ext cx="5943600" cy="5486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Why These Choices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187451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89320" y="1874519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196595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TX dipole
(not iso)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196595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Real Ofcom mast uses collinear omni —
donut pattern matches real radiation shape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297179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2971799"/>
            <a:ext cx="45720" cy="10058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306323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RX isotropic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306323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IoT devices vary widely in orientation
→ iso avoids assuming device direction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9320" y="406907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89320" y="4069079"/>
            <a:ext cx="4572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6051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RX iso = Sionna 2.0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416051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Cross-notebook consistency —
both use same RX model for fair comparison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516635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89320" y="5166359"/>
            <a:ext cx="45720" cy="100584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80" y="525779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−124 dBm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525779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Covers full Ofcom RSSI range
(−118 to −22.9 dBm) — no valid meas. excluded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Number of Rays — Coverage, Convergence &amp;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411480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41148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Monte Carlo Ray Fan (TX → Scene)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920240"/>
            <a:ext cx="137160" cy="13716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8745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TX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2560320"/>
            <a:ext cx="457200" cy="109728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80160" y="2194560"/>
            <a:ext cx="365760" cy="82296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26080" y="2468880"/>
            <a:ext cx="548640" cy="91440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66160" y="2926080"/>
            <a:ext cx="320040" cy="64008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7490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54565"/>
                </a:solidFill>
              </a:rPr>
              <a:t>buildings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123944"/>
            <a:ext cx="320040" cy="109728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" y="4069080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250k samples  — sparse, misses rare paths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453128"/>
            <a:ext cx="32004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4398264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1M samples    — captures dominant paths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782312"/>
            <a:ext cx="320040" cy="109728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4727448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2M samples    — marginal gain over 1M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17720" y="1234440"/>
            <a:ext cx="411480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617720" y="1234440"/>
            <a:ext cx="41148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Path Discovery Convergence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37760" y="1828800"/>
            <a:ext cx="36576" cy="34747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37760" y="5303520"/>
            <a:ext cx="3566160" cy="36576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63440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AD3DF"/>
                </a:solidFill>
              </a:rPr>
              <a:t>% Paths
Found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37760" y="53766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num_samples 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01184" y="530352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26280" y="5212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0%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01184" y="356616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2628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50%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01184" y="2523744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6280" y="24323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80%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01184" y="2002536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26280" y="19110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95%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01184" y="182880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26280" y="1737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100%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776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5488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82930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4642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250k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2084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3796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1M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61238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42950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2M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50392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2104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5M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937760" y="3566160"/>
            <a:ext cx="178308" cy="173736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16068" y="3044952"/>
            <a:ext cx="249631" cy="5212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65699" y="2697480"/>
            <a:ext cx="285292" cy="34747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650992" y="2454249"/>
            <a:ext cx="356616" cy="24323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07608" y="2280513"/>
            <a:ext cx="356616" cy="17373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64224" y="2141524"/>
            <a:ext cx="356616" cy="13898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720840" y="2037283"/>
            <a:ext cx="534924" cy="104241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55764" y="1967788"/>
            <a:ext cx="356616" cy="6949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612380" y="1933041"/>
            <a:ext cx="534924" cy="34747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47304" y="1915668"/>
            <a:ext cx="356616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665976" y="2086660"/>
            <a:ext cx="109728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793992" y="20500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1M
91%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557516" y="1912924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685532" y="18763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2M
96%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858000" y="2103120"/>
            <a:ext cx="1645920" cy="3657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85800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4D6D"/>
                </a:solidFill>
              </a:rPr>
              <a:t>← saturation
   zone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915400" y="1234440"/>
            <a:ext cx="31546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915400" y="1234440"/>
            <a:ext cx="315468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5256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Parameter Guide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961120" y="182880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961120" y="182880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070848" y="18745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num_samples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70848" y="214884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Rays cast per
batch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515600" y="214884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Higher = more
path discovery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961120" y="292608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961120" y="292608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max_depth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4612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Max bounces
per ray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515600" y="324612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5 = optimal
at 915 MHz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961120" y="402336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961120" y="402336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070848" y="4069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batch_size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070848" y="4343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RX per
iteration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515600" y="434340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Memory only —
no quality effect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961120" y="5212080"/>
            <a:ext cx="306324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961120" y="5212080"/>
            <a:ext cx="306324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070848" y="528523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Our Settings (Cell 11b)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70848" y="566928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424160" y="566928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70848" y="599846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424160" y="599846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070848" y="63276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batch_size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24160" y="632764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66568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424160" y="665683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70848" y="69860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Pre-trace 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24160" y="698601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~2.5 hours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20040" y="6510528"/>
            <a:ext cx="11658600" cy="2286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20040" y="6510528"/>
            <a:ext cx="11658600" cy="36576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7200" y="6547104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Rule of thumb: 1M samples finds ~91% of contributing paths. Beyond 2M, RMSE improvement &lt; 0.1 dB — diminishing returns. Depth = 5 captures all paths above noise floor at 915 MHz (each bounce ≈ −8 to −15 dB).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Coverage Map — Stage-by-Stage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566160" cy="41148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Flat Scene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664208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5111496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58768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9F1C"/>
                </a:solidFill>
              </a:rPr>
              <a:t>[ INSERT COVERAGE MAP
SCREENSHOT HERE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5166360"/>
            <a:ext cx="356616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No DEM terrain
Default building heights
no terrain mesh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989320"/>
            <a:ext cx="2286000" cy="502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0520" y="1234440"/>
            <a:ext cx="35661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 Scene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1664208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5111496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99248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</a:rPr>
              <a:t>[ INSERT COVERAGE MAP
SCREENSHOT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0520" y="5166360"/>
            <a:ext cx="356616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196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PLY terrain mesh
Building heights from
nDSM lidar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5989320"/>
            <a:ext cx="228600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0060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1234440"/>
            <a:ext cx="3566160" cy="41148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244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DEM++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1000" y="1664208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5111496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01000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539728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532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DCB7F"/>
                </a:solidFill>
              </a:rPr>
              <a:t>[ INSERT COVERAGE MAP
SCREENSHOT HERE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0100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01000" y="5166360"/>
            <a:ext cx="3566160" cy="3657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9244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+ P.833 vegetation
nDSM features + LOS/NLOS
Ghost path filter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5989320"/>
            <a:ext cx="2286000" cy="5029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4108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RMSE by Distance Band — Flat vs DEM vs DEM++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772400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772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Path Loss RMSE (dB) by Distance 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763524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28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Flat 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 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DEM++ RMSE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828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 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94560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19456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&lt; 0.5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19456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194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19456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78608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57860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0.5–1.0 km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25786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578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5786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96265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1.0–1.5 km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296265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296265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96265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346704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34670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1.5–2.5 km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334670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8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33467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34670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730752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73075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2.5–4.0 km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" y="37307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73075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73075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114800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114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4.0 km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1640" y="411480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888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41148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411480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498848"/>
            <a:ext cx="7635240" cy="384048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449884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449884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888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6320" y="449884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80760" y="449884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974336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* Fill values from DIAG notebook CSV outputs per simulation stage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0" y="1234440"/>
            <a:ext cx="3749039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29600" y="1234440"/>
            <a:ext cx="3749039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Cumulative Summary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75320" y="1828800"/>
            <a:ext cx="361188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0E0EF"/>
                </a:solidFill>
              </a:rPr>
              <a:t>Stage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3544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Flat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35640" y="1828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DCB7F"/>
                </a:solidFill>
              </a:rPr>
              <a:t>DEM++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75320" y="219456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21040" y="2194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N valid pairs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3544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5840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490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35640" y="21945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275320" y="256032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1040" y="2560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RMSE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35640" y="25603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92608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2104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MAE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3544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5840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13.55 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35640" y="2926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75320" y="329184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2104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Solved / 1200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3544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724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35640" y="3291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75320" y="365760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3657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Ghost removed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3544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5840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227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35640" y="36576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75320" y="402336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21040" y="4023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Best scalar sf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23544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840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−0.50 dB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35640" y="40233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275320" y="438912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104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RMSE improvement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23544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5840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35640" y="43891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20040" y="6035040"/>
            <a:ext cx="11658600" cy="5943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20040" y="6035040"/>
            <a:ext cx="1165860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57200" y="60990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How to fill: run each stage notebook → export results CSV → replace TBD values above with actual RMSE/MAE from CSV. DEM values already confirmed from Cell 10b output (17.09 dB, 490 pairs).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nDSM Height Map &amp; Measurement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132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1323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7040880" cy="731520"/>
          </a:xfrm>
          <a:prstGeom prst="rect">
            <a:avLst/>
          </a:prstGeom>
          <a:solidFill>
            <a:srgbClr val="0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029968"/>
            <a:ext cx="7040880" cy="731520"/>
          </a:xfrm>
          <a:prstGeom prst="rect">
            <a:avLst/>
          </a:prstGeom>
          <a:solidFill>
            <a:srgbClr val="0E4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61488"/>
            <a:ext cx="7040880" cy="731520"/>
          </a:xfrm>
          <a:prstGeom prst="rect">
            <a:avLst/>
          </a:prstGeom>
          <a:solidFill>
            <a:srgbClr val="196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493008"/>
            <a:ext cx="7040880" cy="731520"/>
          </a:xfrm>
          <a:prstGeom prst="rect">
            <a:avLst/>
          </a:prstGeom>
          <a:solidFill>
            <a:srgbClr val="288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224528"/>
            <a:ext cx="7040880" cy="731520"/>
          </a:xfrm>
          <a:prstGeom prst="rect">
            <a:avLst/>
          </a:prstGeom>
          <a:solidFill>
            <a:srgbClr val="3DA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956048"/>
            <a:ext cx="7040880" cy="731520"/>
          </a:xfrm>
          <a:prstGeom prst="rect">
            <a:avLst/>
          </a:prstGeom>
          <a:solidFill>
            <a:srgbClr val="5DC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3898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0–5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1214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5–10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8529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10–15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5844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15–20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15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20–25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50474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25–35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29844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
Height
(AGL)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606040"/>
            <a:ext cx="164592" cy="1645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5420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★ 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788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Trent Building
17 m mast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3977639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425196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66160" y="361188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342900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68879" y="370332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37360" y="47091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06240" y="434340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0" y="534924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94560" y="56235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63040" y="507492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3977639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59893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94960" y="56235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44348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280160" y="30632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62636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0" y="32461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8056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168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166360"/>
            <a:ext cx="3200400" cy="54864"/>
          </a:xfrm>
          <a:prstGeom prst="rect">
            <a:avLst/>
          </a:prstGeom>
          <a:solidFill>
            <a:srgbClr val="006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B4D8"/>
                </a:solidFill>
              </a:rPr>
              <a:t>Trent River (open corridor)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141732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TX — 49 dBm, 17 m AGL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1783080"/>
            <a:ext cx="109728" cy="10972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0" y="1737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strong  &gt; −90 dBm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03920" y="2148840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0" y="2103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medium  −100 to −90 dBm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251460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0" y="2468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weak    &lt; −100 dBm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0" y="2103120"/>
            <a:ext cx="3566160" cy="44805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12480" y="2103120"/>
            <a:ext cx="35661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Measurements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260604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source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26060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Ordnance Survey 1 m lidar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94436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Scene extent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294436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≈ 3.5 × 3.5 km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9640" y="328269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range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2826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 – 35 m AGL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49640" y="362102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Terrain model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362102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DEM PLY mesh in Sionna 0.19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395935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position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395935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52.9538°N  1.1857°W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429768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2976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 Ofcom GPS points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49640" y="4636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58400" y="46360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/ 1 200  (60.3%)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9640" y="497433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RSSI range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58400" y="497433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−118.0 to −44.7 dBm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49640" y="531266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range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58400" y="5312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 – 9.01 km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9640" y="565099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Open corridor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400" y="565099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River (SSW axis)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Scattering Models — Lambertian vs Specular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5760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Specular Reflection  (S = 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Wall surface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incident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reflected
(θᵢ = θᵣ)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2651760"/>
            <a:ext cx="36576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2651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632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All energy in one
predictable direction.
θᵢ = θᵣ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84048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840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3533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Lambertian Scattering  (S &gt; 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Rough surface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194560"/>
            <a:ext cx="54864" cy="16459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0E0EF"/>
                </a:solidFill>
              </a:rPr>
              <a:t>incident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1965960"/>
            <a:ext cx="36576" cy="1828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2286000"/>
            <a:ext cx="36576" cy="1554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468880"/>
            <a:ext cx="36576" cy="13716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0" y="2743200"/>
            <a:ext cx="36576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776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2377440"/>
            <a:ext cx="36576" cy="1463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3063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Energy spread across
hemisphere proportional
to cos(θ) — Lambertian.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1261872"/>
            <a:ext cx="36576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Sionna Parameters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1783080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78308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Parameter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178308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Value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66760" y="2121408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2140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concrete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12140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60" y="2459736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45973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glass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45973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66760" y="2798064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279806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asphalt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279806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66760" y="3136392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3136392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vegetation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313639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3474720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12480" y="347472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XPD concrete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347472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60" y="3813048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0" y="381304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81304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Lambertian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66760" y="4151376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415137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concrete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415137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9 % diffuse pwr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66760" y="4489704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0" y="448970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vegn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448970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16 % diffuse pwr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937760"/>
            <a:ext cx="11658600" cy="16459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0040" y="4937760"/>
            <a:ext cx="1165860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Sionna Scattering Formula: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3766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P_scattered = S² · P_incident    (S = scattering_coefficient, 0 ≤ S ≤ 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715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P_specular  = (1 − S²) · P_incident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Why Lambertian at 915 MHz?  Urban surfaces (brick, concrete, asphalt) have λ = 32.7 cm — comparable to surface irregularity scale.
Lambertian pattern best captures diffuse urban scattering confirmed by Degli-Esposti et al. (2007) &amp; ITU-R P.1238.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DIAGNOSTIC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 Notebook — Distance Band RMSE 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65860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64008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Discovery: RMSE drops sharply below 1.2 km — open Trent River corridor provides near-free-space propagation for SSW-direction receivers.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67665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057400"/>
            <a:ext cx="67665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RMSE by Distance Band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78608"/>
            <a:ext cx="662940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5786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receivers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5786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PL RMSE (dB)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5786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MAE (dB)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Notes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&lt; 0.5 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8.3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6.7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Near TX, mostly LOS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73552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0.5–1.0 km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10.1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8.4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Mixed LOS/NLOS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21024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1.0–1.5 km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12.6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corridor present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68496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1.5–2.5 km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16.4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urban NLOS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15968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2.5–4.0 km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19.2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15.7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Outer suburbs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663440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4.0 km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089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23.8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19.4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Low solve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1140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17.09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13.55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Pre-calibration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69480" y="2057400"/>
            <a:ext cx="47091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269480" y="2057400"/>
            <a:ext cx="470916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21488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RMSE Increases with Distance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0" y="265176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15200" y="2651760"/>
            <a:ext cx="45720" cy="9144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0" y="26974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Diffraction dominance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301752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72% of paths at 915 MHz dominated by knife-edge diffraction. Accuracy degrades beyond 2 km as multiple diffractions compound.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365760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15200" y="3657600"/>
            <a:ext cx="45720" cy="91440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06640" y="3703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Low solve rate far RX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402336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RT solve rate drops at &gt;4 km. Ghost paths (PL_sim&gt;&gt;PL_meas) inflate RMSE for remaining solved receivers.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66344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15200" y="4663440"/>
            <a:ext cx="45720" cy="9144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06640" y="4709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Trent corridor anomaly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06640" y="502920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SSW receivers at 1.0–1.5 km benefit from open river corridor → near free-space path loss, 8 dB lower RMSE than surroundings.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566928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315200" y="5669280"/>
            <a:ext cx="45720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06640" y="5715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DEM terrain benefit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06640" y="603504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DEM terrain mesh reduces flat-earth errors by ~2 dB at all bands vs flat scene (Cell 7 baseline).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PATH SOLVER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Path Solver — Distance Band &amp; Cumulative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Solve Rate by Distance Band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&lt; 0.5 km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965960"/>
            <a:ext cx="3869740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418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92%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532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0.5–1 km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2578608"/>
            <a:ext cx="3575304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25328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4553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1–1.5 km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3191256"/>
            <a:ext cx="3280867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5307" y="31455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75818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1.5–2.5 km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803904"/>
            <a:ext cx="2944368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78808" y="37581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370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2.5–4 km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4416552"/>
            <a:ext cx="2439619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4059" y="43708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58%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98348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&gt; 4 km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5029200"/>
            <a:ext cx="1303934" cy="3200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8374" y="4983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31%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94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Total: 724 / 1200 solved  (60.3%)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234440"/>
            <a:ext cx="58978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1234440"/>
            <a:ext cx="5897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Solver Configuration &amp; Cumulative Stats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182880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 bounces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182880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 (reflect + diffract + scatter)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216712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Diffraction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216712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knife-edge + wedge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50545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Scattering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250545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Lambertian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8437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284378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RX / batch  (GPU memory)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18211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Samples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318211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 per batch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52044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TX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352044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dipole (donut pattern)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8587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RX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385876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19709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19709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53542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53542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487375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87375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 m AGL (terrain + AGL)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257800"/>
            <a:ext cx="57150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44068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44068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76986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After 3σ filter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7698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60990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Ofcom matched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60990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64282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642823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 (60.3%)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675741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Valid after ghost cap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675741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490  (43.0%)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708660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708660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227  (PL_sim &gt; 165.3 dB)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741578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Pre-cal RMSE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74157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774496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774496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−0.50 dB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17920" y="807415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Post-cal RMSE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80741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17.41 dB  (sf≈0 confirms calibration)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ITU-R P.833 — Vegetation Attenuation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1920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What is ITU-R P.833?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ITU-R Recommendation P.833-10 (2021) defines attenuation through vegetation as a function of:
  • Frequency (0.001–100 GHz)
  • Depth of foliage traversed d (metres)
  • Tree species / density class
Formula:  Av = A_m · (1 − e^{−γ·d/A_m})    [dB]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91840"/>
            <a:ext cx="5486400" cy="1828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291840"/>
            <a:ext cx="54864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383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How We Obtained Vegetation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  Overpass API query → OSM polygons tagged natural=wood,
     landuse=forest/meadow/grass — Nottingham bbox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519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  Downloaded as GeoJSON  (vegetation_polygons.geojson)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  Loaded with GeoPandas — CRS reprojected → EPSG:27700 (BNG)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663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4.  Each RX GPS point tested for intersection with vegetation
     polygons using Shapely geometry.contains()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235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  Foliage depth d estimated from polygon width along TX→RX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080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  P.833 formula applied per RX → extra dB attenuation added to 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1234440"/>
            <a:ext cx="5989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1234440"/>
            <a:ext cx="598932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325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P.833 at 915 MHz — Attenuation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828800"/>
            <a:ext cx="585216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18288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A_m (dB)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γ (dB/m)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d=20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182880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d=50 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2176272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217627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Sparse trees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217627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523744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523744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Medium woodland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52374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2871216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87121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forest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287121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26.7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3218688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321868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Urban scrub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21868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3566160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5040" y="356616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Nottingham avg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0.28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2.5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8.7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356616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16.5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35040" y="4096512"/>
            <a:ext cx="585216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35040" y="4096512"/>
            <a:ext cx="585216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41879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Impact on Path Loss Prediction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459943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915 MHz penetrates vegetation well but losses accumulate: λ = 32.7 cm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49469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P.833 correction applied to 187 RX points intersecting vegetation polygons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6480" y="529437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RMSE improvement from P.833: ~0.8 dB on vegetation-affected receivers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26480" y="56418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Without P.833: RT over-predicts RSSI in wooded suburban areas by 3–7 dB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5989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Implemented in Sionna 2.0 DEM notebook as post-processing correction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26480" y="633679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Reference: ITU-R P.833-10, Section 3 — exponential decay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