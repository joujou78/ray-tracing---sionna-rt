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</p:sldIdLst>
  <p:sldSz cx="12188952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28600" cy="685800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1463040"/>
            <a:ext cx="86868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FFFFFF"/>
                </a:solidFill>
              </a:rPr>
              <a:t>Ray Tracing for Path Loss Prediction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2468880"/>
            <a:ext cx="868680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0" i="0">
                <a:solidFill>
                  <a:srgbClr val="90E0EF"/>
                </a:solidFill>
              </a:rPr>
              <a:t>in Urban Environments</a:t>
            </a:r>
          </a:p>
        </p:txBody>
      </p:sp>
      <p:sp>
        <p:nvSpPr>
          <p:cNvPr id="6" name="Rectangle 5"/>
          <p:cNvSpPr/>
          <p:nvPr/>
        </p:nvSpPr>
        <p:spPr>
          <a:xfrm>
            <a:off x="502920" y="3246120"/>
            <a:ext cx="502920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3429000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Scene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4600" y="3429000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Nottingham · Ofcom 2018 Drive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3813048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Frequency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514600" y="3813048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915.95 MHz  (IoT / LoRaWAN band)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4197096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Tool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514600" y="4197096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Sionna RT 2.0  +  Sionna 0.19 Differentiable RT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4581144"/>
            <a:ext cx="20116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Goal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514600" y="4581144"/>
            <a:ext cx="64008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Minimise RMSE against 1 200 real Ofcom measurements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44000" y="1097280"/>
            <a:ext cx="2743200" cy="47548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235440" y="2560320"/>
            <a:ext cx="25603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1">
                <a:solidFill>
                  <a:srgbClr val="1E3A52"/>
                </a:solidFill>
              </a:rPr>
              <a:t>[ Scene Render
or Coverage Map 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1 / 12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MOTIVATION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2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Purpose &amp; Motivation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20040" y="1234440"/>
            <a:ext cx="3657600" cy="64008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8463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FF4D6D"/>
                </a:solidFill>
              </a:rPr>
              <a:t>⚠  The Problem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Empirical models (COST-231,
Okumura-Hata) give 20–36 dB errors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8463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No terrain, no building geometry,
no material physics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Fixed-environment formulas —
break in new cities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16052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160520" y="1234440"/>
            <a:ext cx="365760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32511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🎯  Our Goal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32511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Minimise RMSE against
1 200 real Ofcom measurements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2511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Reproduce physical propagation:
diffraction, reflection, scatter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2511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Differentiable RT calibration
(NVLabs Hoydis et al. 2023)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001000" y="1234440"/>
            <a:ext cx="36576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01000" y="1234440"/>
            <a:ext cx="365760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165592" y="1371600"/>
            <a:ext cx="33832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2DCB7F"/>
                </a:solidFill>
              </a:rPr>
              <a:t>📡  The Dataset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165592" y="192024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Ofcom 2018 drive test
915.95 MHz, Nottingham UK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65592" y="288036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1 200 receivers  |  0.3–9 km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165592" y="3840480"/>
            <a:ext cx="338328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›  RSSI range: −118 to −23 dBm
Noise floor: −124 dBm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RESEARCH QUESTIONS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3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9144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Research Questions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389888"/>
            <a:ext cx="54864" cy="777240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374904" y="1280160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335024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00B4D8"/>
                </a:solidFill>
              </a:rPr>
              <a:t>RQ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7320" y="132588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Flat Terrain vs DEM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760720" y="1325880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How much does digital elevation modelling (DEM) improve path loss
prediction accuracy over a flat z = 0 scene in Nottingham?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20040" y="2560320"/>
            <a:ext cx="54864" cy="777240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74904" y="2450592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2505456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RQ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417320" y="2496312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Differentiable RT Calibration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760720" y="2496312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Can Sionna 0.19 differentiable RT (NVLabs approach) achieve
&lt; 5 dB RMSE on the Ofcom 2018 UK dataset after calibration?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20040" y="3730752"/>
            <a:ext cx="54864" cy="777240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374904" y="3621024"/>
            <a:ext cx="11430000" cy="1024128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02920" y="3675888"/>
            <a:ext cx="9144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9F1C"/>
                </a:solidFill>
              </a:rPr>
              <a:t>RQ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17320" y="3666744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FFFFF"/>
                </a:solidFill>
              </a:rPr>
              <a:t>Optimal Scene Configuration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760720" y="3666744"/>
            <a:ext cx="58521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CAD3DF"/>
                </a:solidFill>
              </a:rPr>
              <a:t>Which combination of scene geometry, material parameters, and
ray-tracing settings best represents urban Nottingham at 915 MHz?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METHODOLOGY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4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Simulation &amp; Calibration Pipeline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56032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56032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INPUT DATA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65760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65760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OSM + EA LiDAR
+ Ofcom CSV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139695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203703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203703" y="1261872"/>
            <a:ext cx="1874519" cy="54864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2313431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90E0EF"/>
                </a:solidFill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313431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SCENE BUILDER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13431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2313431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nDSM + ITU-R P.2040-2
+ Terrain PLY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087366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151374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51374" y="1261872"/>
            <a:ext cx="1874519" cy="54864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261102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2DCB7F"/>
                </a:solidFill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61102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RAY TRACING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61102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261102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Sionna 2.0 PathSolver
+ Sionna 0.19 Diff RT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35037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099045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099045" y="1261872"/>
            <a:ext cx="1874519" cy="54864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208773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9F1C"/>
                </a:solidFill>
              </a:rPr>
              <a:t>04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208773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CALIBRATION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208773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208773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Scalar (Cell 10b)
Material (Cell 11b)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982708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046716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046716" y="1261872"/>
            <a:ext cx="1874519" cy="54864"/>
          </a:xfrm>
          <a:prstGeom prst="rect">
            <a:avLst/>
          </a:prstGeom>
          <a:solidFill>
            <a:srgbClr val="FF4D6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156444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FF4D6D"/>
                </a:solidFill>
              </a:rPr>
              <a:t>05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156444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ML RESIDUAL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156444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56444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ResidualMLP (Cell 15)
CNN+MLP (Cell 14)
MaterialMLP (Cell 16)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9930379" y="3063240"/>
            <a:ext cx="128016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900" b="0" i="0">
                <a:solidFill>
                  <a:srgbClr val="1E3A52"/>
                </a:solidFill>
              </a:rPr>
              <a:t>▶</a:t>
            </a:r>
          </a:p>
        </p:txBody>
      </p:sp>
      <p:sp>
        <p:nvSpPr>
          <p:cNvPr id="42" name="Rectangle 41"/>
          <p:cNvSpPr/>
          <p:nvPr/>
        </p:nvSpPr>
        <p:spPr>
          <a:xfrm>
            <a:off x="9994387" y="1261872"/>
            <a:ext cx="1874519" cy="4114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9994387" y="1261872"/>
            <a:ext cx="1874519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104115" y="1371600"/>
            <a:ext cx="1874519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1" i="0">
                <a:solidFill>
                  <a:srgbClr val="00B4D8"/>
                </a:solidFill>
              </a:rPr>
              <a:t>06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104115" y="1783080"/>
            <a:ext cx="1737359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FFFF"/>
                </a:solidFill>
              </a:rPr>
              <a:t>VALIDATION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15" y="2267712"/>
            <a:ext cx="1645919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104115" y="2359152"/>
            <a:ext cx="1737359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RMSE · MAE · Bias
STD · R² per band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320040" y="5577840"/>
            <a:ext cx="11521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0" i="0">
                <a:solidFill>
                  <a:srgbClr val="90E0EF"/>
                </a:solidFill>
              </a:rPr>
              <a:t>Output Metrics per Distance Band:   RMSE  |  MAE  |  Bias  |  STD  |  R²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INPUT DATA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5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09728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Ofcom Dataset — GPS to Sionna Receivers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320040" y="1234440"/>
            <a:ext cx="640080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57200" y="1444752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7200" y="141732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139903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Raw Ofcom CSV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743200" y="139903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GPS (WGS84 lat/lon)  +  RSSI (dBm)  per measurement point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2240280"/>
            <a:ext cx="292608" cy="2926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57200" y="2212848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2194560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00B4D8"/>
                </a:solidFill>
              </a:rPr>
              <a:t>Filter &amp; Clean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74320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Keep 915.95 MHz  ·  drop RSSI &lt; −124 dBm  ·  remove duplicates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3035808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57200" y="3008376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2990088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Coordinate Transform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743200" y="299008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WGS84  →  UTM Zone 30N (EPSG:32630)  →  local scene XY (metres)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3831336"/>
            <a:ext cx="292608" cy="2926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457200" y="3803904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3785616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2DCB7F"/>
                </a:solidFill>
              </a:rPr>
              <a:t>Height Assignment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2743200" y="3785616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RX Z = EA LiDAR DTM elevation  +  1.5 m AGL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57200" y="4626864"/>
            <a:ext cx="292608" cy="2926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57200" y="4599432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4581144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9F1C"/>
                </a:solidFill>
              </a:rPr>
              <a:t>Sionna RX Array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743200" y="4581144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Each point  →  Receiver object  ·  isotropic antenna  ·  1 200 total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57200" y="5422392"/>
            <a:ext cx="292608" cy="292608"/>
          </a:xfrm>
          <a:prstGeom prst="rect">
            <a:avLst/>
          </a:prstGeom>
          <a:solidFill>
            <a:srgbClr val="90E0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457200" y="5394960"/>
            <a:ext cx="292608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1" i="0">
                <a:solidFill>
                  <a:srgbClr val="0D1B2A"/>
                </a:solidFill>
              </a:rPr>
              <a:t>6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68680" y="5376672"/>
            <a:ext cx="18288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90E0EF"/>
                </a:solidFill>
              </a:rPr>
              <a:t>PL Reference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2743200" y="53766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CAD3DF"/>
                </a:solidFill>
              </a:rPr>
              <a:t>PL_meas = TX_EIRP − RSSI_meas  (dB)  →  ground truth for RMSE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949440" y="1234440"/>
            <a:ext cx="4937760" cy="521208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6949440" y="1234440"/>
            <a:ext cx="4937760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86600" y="1371600"/>
            <a:ext cx="45720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00B4D8"/>
                </a:solidFill>
              </a:rPr>
              <a:t>Key Numbers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86600" y="192024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Raw Ofcom points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646920" y="192024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~4 000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086600" y="239572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After filtering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46920" y="239572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1 200 receivers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086600" y="287121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Coverage range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646920" y="287121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0.3 km – 9 km from TX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7086600" y="334670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location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646920" y="334670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(−1.2559°, 52.9863°)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086600" y="3822192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TX height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46920" y="3822192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17 m AGL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086600" y="4297680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Frequency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9646920" y="4297680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915.95 MHz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086600" y="4773168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RSSI range (meas)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9646920" y="4773168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−118 to −22.9 dBm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086600" y="5248656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Noise floor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646920" y="5248656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−124 dBm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086600" y="5724144"/>
            <a:ext cx="25603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90E0EF"/>
                </a:solidFill>
              </a:rPr>
              <a:t>PL_meas range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5724144"/>
            <a:ext cx="2103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FFFFFF"/>
                </a:solidFill>
              </a:rPr>
              <a:t>93.7 – 142.4 dB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B2A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73152"/>
            <a:ext cx="12188952" cy="54864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201168"/>
            <a:ext cx="36576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800" b="1" i="0">
                <a:solidFill>
                  <a:srgbClr val="00B4D8"/>
                </a:solidFill>
              </a:rPr>
              <a:t>SCENE CONSTRUCTION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0" y="6492240"/>
            <a:ext cx="10972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900" b="0" i="0">
                <a:solidFill>
                  <a:srgbClr val="CAD3DF"/>
                </a:solidFill>
              </a:rPr>
              <a:t>6 / 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411480" y="457200"/>
            <a:ext cx="114300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600" b="1" i="0">
                <a:solidFill>
                  <a:srgbClr val="FFFFFF"/>
                </a:solidFill>
              </a:rPr>
              <a:t>Scene Construction — Blender → OSM → Merged PLY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078992"/>
            <a:ext cx="113385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274320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274320" y="1234440"/>
            <a:ext cx="3840480" cy="64008"/>
          </a:xfrm>
          <a:prstGeom prst="rect">
            <a:avLst/>
          </a:prstGeom>
          <a:solidFill>
            <a:srgbClr val="FF9F1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9F1C"/>
                </a:solidFill>
              </a:rPr>
              <a:t>Stage 1 · Blender (Flat)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Manual · OSM importer plugin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11480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11480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11480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Fast to build — one import/export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 geometry cleanup in GUI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1480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merged PLY → Sionna loads in seconds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11480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11480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terrain — flat z=0 plane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11480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Nottingham hills completely absent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Manual — not reproducible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" y="53309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8–15 dB error at 300–1500 m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24528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224528" y="1234440"/>
            <a:ext cx="3840480" cy="64008"/>
          </a:xfrm>
          <a:prstGeom prst="rect">
            <a:avLst/>
          </a:prstGeom>
          <a:solidFill>
            <a:srgbClr val="2DCB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361688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2DCB7F"/>
                </a:solidFill>
              </a:rPr>
              <a:t>Stage 2 · OSM Direct (DEM)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361688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Automated · Python OSMnx + scene builder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61688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4361688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361688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Fully automated &amp; reproducible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361688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ITU-R P.2040-2 materials per building type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361688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Real terrain from EA LiDAR (2 m res)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61688" y="3776472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361688" y="41239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heights often missing → estimated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361688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OSM tags inconsistent across Nottingham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361688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Longer scene build time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174736" y="1234440"/>
            <a:ext cx="3840480" cy="5257800"/>
          </a:xfrm>
          <a:prstGeom prst="rect">
            <a:avLst/>
          </a:prstGeom>
          <a:solidFill>
            <a:srgbClr val="112A4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174736" y="1234440"/>
            <a:ext cx="3840480" cy="64008"/>
          </a:xfrm>
          <a:prstGeom prst="rect">
            <a:avLst/>
          </a:prstGeom>
          <a:solidFill>
            <a:srgbClr val="00B4D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311896" y="1371600"/>
            <a:ext cx="365760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00B4D8"/>
                </a:solidFill>
              </a:rPr>
              <a:t>Stage 3 · Merged PLY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11896" y="1764792"/>
            <a:ext cx="36576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1">
                <a:solidFill>
                  <a:srgbClr val="CAD3DF"/>
                </a:solidFill>
              </a:rPr>
              <a:t>Why we merged 150 k files → one per material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311896" y="2121408"/>
            <a:ext cx="3566160" cy="16459"/>
          </a:xfrm>
          <a:prstGeom prst="rect">
            <a:avLst/>
          </a:prstGeom>
          <a:solidFill>
            <a:srgbClr val="1E3A5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311896" y="2194560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2DCB7F"/>
                </a:solidFill>
              </a:rPr>
              <a:t>✔  Pros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8311896" y="2523744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Scene load: 20 min → 45 sec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311896" y="29260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Single BVH → 50× faster ray traversal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8311896" y="33284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No GPU memory fragmentation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11896" y="3730752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Solve rate improved directly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11896" y="4178808"/>
            <a:ext cx="3840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1" i="0">
                <a:solidFill>
                  <a:srgbClr val="FF4D6D"/>
                </a:solidFill>
              </a:rPr>
              <a:t>✘  Cons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8311896" y="4526280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Per-material merge requires preprocessing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8311896" y="4928616"/>
            <a:ext cx="365760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50" b="0" i="0">
                <a:solidFill>
                  <a:srgbClr val="CAD3DF"/>
                </a:solidFill>
              </a:rPr>
              <a:t>   Harder to inspect individual buildings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